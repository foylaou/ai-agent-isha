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Default Extension="xx&amp;_nc_gid=L5t8k-vPojQ2kyGfoJ5Plg&amp;_nc_ss=7b289&amp;oh=00_AQBTPLXyD2_ag2sXLylU9jAQSWLdkOcNnm60BMxILQLViA&amp;oe=6A6BE778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notesMasterIdLst>
    <p:notesMasterId r:id="rId33"/>
  </p:notesMasterIdLst>
  <p:sldIdLst>
    <p:sldId id="257" r:id="rId2"/>
    <p:sldId id="259" r:id="rId3"/>
    <p:sldId id="260" r:id="rId4"/>
    <p:sldId id="266" r:id="rId5"/>
    <p:sldId id="268" r:id="rId6"/>
    <p:sldId id="269" r:id="rId7"/>
    <p:sldId id="270" r:id="rId8"/>
    <p:sldId id="267" r:id="rId9"/>
    <p:sldId id="271" r:id="rId10"/>
    <p:sldId id="272" r:id="rId11"/>
    <p:sldId id="273" r:id="rId12"/>
    <p:sldId id="274" r:id="rId13"/>
    <p:sldId id="277" r:id="rId14"/>
    <p:sldId id="275" r:id="rId15"/>
    <p:sldId id="276" r:id="rId16"/>
    <p:sldId id="278" r:id="rId17"/>
    <p:sldId id="261" r:id="rId18"/>
    <p:sldId id="263" r:id="rId19"/>
    <p:sldId id="264" r:id="rId20"/>
    <p:sldId id="265" r:id="rId21"/>
    <p:sldId id="262" r:id="rId22"/>
    <p:sldId id="285" r:id="rId23"/>
    <p:sldId id="315" r:id="rId24"/>
    <p:sldId id="316" r:id="rId25"/>
    <p:sldId id="453" r:id="rId26"/>
    <p:sldId id="374" r:id="rId27"/>
    <p:sldId id="375" r:id="rId28"/>
    <p:sldId id="377" r:id="rId29"/>
    <p:sldId id="286" r:id="rId30"/>
    <p:sldId id="287" r:id="rId31"/>
    <p:sldId id="454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2"/>
    <p:restoredTop sz="94623"/>
  </p:normalViewPr>
  <p:slideViewPr>
    <p:cSldViewPr snapToGrid="0">
      <p:cViewPr varScale="1">
        <p:scale>
          <a:sx n="113" d="100"/>
          <a:sy n="113" d="100"/>
        </p:scale>
        <p:origin x="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C42B88-C643-894D-ABE2-485653A5D5FC}" type="datetimeFigureOut">
              <a:rPr kumimoji="1" lang="zh-TW" altLang="en-US" smtClean="0"/>
              <a:t>2026/8/25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E67BAE-1917-2D4B-BE40-51606C4133A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30836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20AF4-188F-7F49-B283-F6A7F68760B1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116792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20AF4-188F-7F49-B283-F6A7F68760B1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4571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67BAE-1917-2D4B-BE40-51606C4133A0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77018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E67BAE-1917-2D4B-BE40-51606C4133A0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99001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583575" y="1487048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48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97223" y="3568772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26C0C-A799-C940-B048-DC089F136DC2}" type="datetimeFigureOut">
              <a:rPr kumimoji="1" lang="zh-TW" altLang="en-US" smtClean="0"/>
              <a:t>2026/8/25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11405-C1F9-D44D-BD43-28A8011151F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82308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086" y="356180"/>
            <a:ext cx="11190514" cy="1188720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087" y="1698171"/>
            <a:ext cx="11190514" cy="404185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56511" y="6277578"/>
            <a:ext cx="2753746" cy="323968"/>
          </a:xfrm>
        </p:spPr>
        <p:txBody>
          <a:bodyPr/>
          <a:lstStyle/>
          <a:p>
            <a:fld id="{E6B26C0C-A799-C940-B048-DC089F136DC2}" type="datetimeFigureOut">
              <a:rPr kumimoji="1" lang="zh-TW" altLang="en-US" smtClean="0"/>
              <a:t>2026/8/25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81743" y="6277578"/>
            <a:ext cx="5901189" cy="320040"/>
          </a:xfrm>
        </p:spPr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11405-C1F9-D44D-BD43-28A8011151F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4693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26C0C-A799-C940-B048-DC089F136DC2}" type="datetimeFigureOut">
              <a:rPr kumimoji="1" lang="zh-TW" altLang="en-US" smtClean="0"/>
              <a:t>2026/8/25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11405-C1F9-D44D-BD43-28A8011151F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6272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1628" y="301752"/>
            <a:ext cx="11168743" cy="118872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1628" y="1712758"/>
            <a:ext cx="5342058" cy="438324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743" y="1712758"/>
            <a:ext cx="5668628" cy="438324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26C0C-A799-C940-B048-DC089F136DC2}" type="datetimeFigureOut">
              <a:rPr kumimoji="1" lang="zh-TW" altLang="en-US" smtClean="0"/>
              <a:t>2026/8/25</a:t>
            </a:fld>
            <a:endParaRPr kumimoji="1" lang="zh-TW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11405-C1F9-D44D-BD43-28A8011151F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1558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26C0C-A799-C940-B048-DC089F136DC2}" type="datetimeFigureOut">
              <a:rPr kumimoji="1" lang="zh-TW" altLang="en-US" smtClean="0"/>
              <a:t>2026/8/25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11405-C1F9-D44D-BD43-28A8011151F6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1390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26C0C-A799-C940-B048-DC089F136DC2}" type="datetimeFigureOut">
              <a:rPr kumimoji="1" lang="zh-TW" altLang="en-US" smtClean="0"/>
              <a:t>2026/8/25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11405-C1F9-D44D-BD43-28A8011151F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11073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26C0C-A799-C940-B048-DC089F136DC2}" type="datetimeFigureOut">
              <a:rPr kumimoji="1" lang="zh-TW" altLang="en-US" smtClean="0"/>
              <a:t>2026/8/25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11405-C1F9-D44D-BD43-28A8011151F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76055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26C0C-A799-C940-B048-DC089F136DC2}" type="datetimeFigureOut">
              <a:rPr kumimoji="1" lang="zh-TW" altLang="en-US" smtClean="0"/>
              <a:t>2026/8/25</a:t>
            </a:fld>
            <a:endParaRPr kumimoji="1" lang="zh-TW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11405-C1F9-D44D-BD43-28A8011151F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7756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6B26C0C-A799-C940-B048-DC089F136DC2}" type="datetimeFigureOut">
              <a:rPr kumimoji="1" lang="zh-TW" altLang="en-US" smtClean="0"/>
              <a:t>2026/8/25</a:t>
            </a:fld>
            <a:endParaRPr kumimoji="1" lang="zh-TW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11405-C1F9-D44D-BD43-28A8011151F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42762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26C0C-A799-C940-B048-DC089F136DC2}" type="datetimeFigureOut">
              <a:rPr kumimoji="1" lang="zh-TW" altLang="en-US" smtClean="0"/>
              <a:t>2026/8/25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11405-C1F9-D44D-BD43-28A8011151F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31307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26C0C-A799-C940-B048-DC089F136DC2}" type="datetimeFigureOut">
              <a:rPr kumimoji="1" lang="zh-TW" altLang="en-US" smtClean="0"/>
              <a:t>2026/8/25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11405-C1F9-D44D-BD43-28A8011151F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91773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6B26C0C-A799-C940-B048-DC089F136DC2}" type="datetimeFigureOut">
              <a:rPr kumimoji="1" lang="zh-TW" altLang="en-US" smtClean="0"/>
              <a:t>2026/8/25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6811405-C1F9-D44D-BD43-28A8011151F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63367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zh.wikipedia.org/wiki/%E5%86%B3%E7%AD%96" TargetMode="External"/><Relationship Id="rId3" Type="http://schemas.openxmlformats.org/officeDocument/2006/relationships/hyperlink" Target="https://zh.wikipedia.org/wiki/%E6%99%BA%E6%85%A7" TargetMode="External"/><Relationship Id="rId7" Type="http://schemas.openxmlformats.org/officeDocument/2006/relationships/hyperlink" Target="https://zh.wikipedia.org/wiki/%E6%84%9F%E7%9F%A5" TargetMode="External"/><Relationship Id="rId2" Type="http://schemas.openxmlformats.org/officeDocument/2006/relationships/hyperlink" Target="https://zh.wikipedia.org/wiki/%E7%94%B5%E5%AD%90%E8%AE%A1%E7%AE%97%E6%9C%BA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zh.wikipedia.org/wiki/%E8%A7%A3%E5%86%B3%E9%97%AE%E9%A2%98" TargetMode="External"/><Relationship Id="rId5" Type="http://schemas.openxmlformats.org/officeDocument/2006/relationships/hyperlink" Target="https://zh.wikipedia.org/wiki/%E6%8E%A8%E7%90%86" TargetMode="External"/><Relationship Id="rId4" Type="http://schemas.openxmlformats.org/officeDocument/2006/relationships/hyperlink" Target="https://zh.wikipedia.org/wiki/%E5%AD%A6%E4%B9%A0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xx&amp;_nc_gid=L5t8k-vPojQ2kyGfoJ5Plg&amp;_nc_ss=7b289&amp;oh=00_AQBTPLXyD2_ag2sXLylU9jAQSWLdkOcNnm60BMxILQLViA&amp;oe=6A6BE778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3">
            <a:extLst>
              <a:ext uri="{FF2B5EF4-FFF2-40B4-BE49-F238E27FC236}">
                <a16:creationId xmlns:a16="http://schemas.microsoft.com/office/drawing/2014/main" id="{5FCAD19B-A7C8-8375-7CA1-5AEDC5F28B0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r="1779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29C424A-30E5-508E-40B9-16A0805D3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700238"/>
          </a:xfrm>
          <a:noFill/>
          <a:ln w="38100" cap="sq">
            <a:solidFill>
              <a:schemeClr val="tx1"/>
            </a:solidFill>
            <a:miter lim="800000"/>
          </a:ln>
        </p:spPr>
        <p:txBody>
          <a:bodyPr anchor="ctr">
            <a:normAutofit fontScale="90000"/>
          </a:bodyPr>
          <a:lstStyle/>
          <a:p>
            <a:r>
              <a:rPr lang="zh-TW" altLang="en-US" b="0" i="0" u="none" strike="noStrike" dirty="0">
                <a:solidFill>
                  <a:schemeClr val="accent1"/>
                </a:solidFill>
                <a:latin typeface="KaiTi" panose="020B0503020204020204" pitchFamily="49" charset="-122"/>
                <a:ea typeface="KaiTi" panose="020B0503020204020204" pitchFamily="49" charset="-122"/>
              </a:rPr>
              <a:t>生成式</a:t>
            </a:r>
            <a:r>
              <a:rPr lang="en-US" altLang="zh-TW" b="0" i="0" u="none" strike="noStrike" dirty="0">
                <a:solidFill>
                  <a:schemeClr val="accent1"/>
                </a:solidFill>
                <a:latin typeface="TimesNewRomanPSMT"/>
                <a:ea typeface="KaiTi" panose="020B0503020204020204" pitchFamily="49" charset="-122"/>
              </a:rPr>
              <a:t>AI</a:t>
            </a:r>
            <a:r>
              <a:rPr lang="zh-TW" altLang="en-US" b="0" i="0" u="none" strike="noStrike" dirty="0">
                <a:solidFill>
                  <a:schemeClr val="accent1"/>
                </a:solidFill>
                <a:latin typeface="KaiTi" panose="020B0503020204020204" pitchFamily="49" charset="-122"/>
                <a:ea typeface="KaiTi" panose="020B0503020204020204" pitchFamily="49" charset="-122"/>
              </a:rPr>
              <a:t>實作</a:t>
            </a:r>
            <a:endParaRPr kumimoji="1" lang="zh-TW" altLang="en-US" sz="11500" dirty="0">
              <a:solidFill>
                <a:schemeClr val="accent1"/>
              </a:solidFill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7B72C27-A904-0E5B-1FE8-FF9E888BCE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89263" y="4233822"/>
            <a:ext cx="6801612" cy="1239894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kumimoji="1" lang="zh-TW" altLang="en-US" sz="3200" dirty="0">
                <a:solidFill>
                  <a:schemeClr val="tx1"/>
                </a:solidFill>
              </a:rPr>
              <a:t>高雄科技大學電子工程系</a:t>
            </a:r>
            <a:endParaRPr kumimoji="1" lang="en-US" altLang="zh-TW" sz="3200" dirty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kumimoji="1" lang="zh-TW" altLang="en-US" sz="3200" dirty="0">
                <a:solidFill>
                  <a:schemeClr val="tx1"/>
                </a:solidFill>
              </a:rPr>
              <a:t>洪盟峯</a:t>
            </a:r>
          </a:p>
        </p:txBody>
      </p:sp>
    </p:spTree>
    <p:extLst>
      <p:ext uri="{BB962C8B-B14F-4D97-AF65-F5344CB8AC3E}">
        <p14:creationId xmlns:p14="http://schemas.microsoft.com/office/powerpoint/2010/main" val="263471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1DF464-E2D8-5673-8B75-E52001D7C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567" y="413708"/>
            <a:ext cx="7729728" cy="1188720"/>
          </a:xfrm>
        </p:spPr>
        <p:txBody>
          <a:bodyPr>
            <a:normAutofit/>
          </a:bodyPr>
          <a:lstStyle/>
          <a:p>
            <a:r>
              <a:rPr kumimoji="1" lang="zh-TW" altLang="en-US" sz="4800" dirty="0"/>
              <a:t>報告大綱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87AF35-0618-4D07-626A-08B33A74F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57402"/>
            <a:ext cx="10820400" cy="4692314"/>
          </a:xfrm>
        </p:spPr>
        <p:txBody>
          <a:bodyPr>
            <a:normAutofit/>
          </a:bodyPr>
          <a:lstStyle/>
          <a:p>
            <a:r>
              <a:rPr kumimoji="1" lang="zh-TW" altLang="en-US" sz="2800" dirty="0"/>
              <a:t>什麼是人工智慧與生成式人工智慧 </a:t>
            </a:r>
            <a:r>
              <a:rPr kumimoji="1" lang="en-US" altLang="zh-TW" sz="2800" dirty="0"/>
              <a:t>(Artificial Intelligence)</a:t>
            </a:r>
            <a:r>
              <a:rPr kumimoji="1" lang="zh-TW" altLang="en-US" sz="2800" dirty="0"/>
              <a:t> ？</a:t>
            </a:r>
            <a:endParaRPr kumimoji="1" lang="en-US" altLang="zh-TW" sz="2800" dirty="0"/>
          </a:p>
          <a:p>
            <a:r>
              <a:rPr kumimoji="1" lang="zh-TW" altLang="en-US" sz="2800" dirty="0"/>
              <a:t>代理式</a:t>
            </a:r>
            <a:r>
              <a:rPr kumimoji="1" lang="en-US" altLang="zh-TW" sz="2800" dirty="0"/>
              <a:t>AI</a:t>
            </a:r>
            <a:r>
              <a:rPr kumimoji="1" lang="zh-TW" altLang="en-US" sz="2800" dirty="0"/>
              <a:t>是未來趨勢？</a:t>
            </a:r>
            <a:endParaRPr kumimoji="1" lang="en-US" altLang="zh-TW" sz="2800" dirty="0"/>
          </a:p>
          <a:p>
            <a:r>
              <a:rPr kumimoji="1" lang="zh-TW" altLang="en-US" sz="2800" dirty="0"/>
              <a:t>代理式</a:t>
            </a:r>
            <a:r>
              <a:rPr kumimoji="1" lang="en-US" altLang="zh-TW" sz="2800" dirty="0"/>
              <a:t>AI</a:t>
            </a:r>
            <a:r>
              <a:rPr kumimoji="1" lang="zh-TW" altLang="en-US" sz="2800" dirty="0"/>
              <a:t>可以做些事？</a:t>
            </a:r>
            <a:endParaRPr kumimoji="1" lang="en-US" altLang="zh-TW" sz="2800" dirty="0"/>
          </a:p>
          <a:p>
            <a:r>
              <a:rPr kumimoji="1" lang="zh-TW" altLang="en-US" sz="2800" dirty="0"/>
              <a:t>使用代理式</a:t>
            </a:r>
            <a:r>
              <a:rPr kumimoji="1" lang="en-US" altLang="zh-TW" sz="2800" dirty="0"/>
              <a:t>AI</a:t>
            </a:r>
            <a:r>
              <a:rPr kumimoji="1" lang="zh-TW" altLang="en-US" sz="2800" dirty="0"/>
              <a:t>的步驟</a:t>
            </a:r>
            <a:endParaRPr kumimoji="1" lang="en-US" altLang="zh-TW" sz="2800" dirty="0"/>
          </a:p>
          <a:p>
            <a:r>
              <a:rPr kumimoji="1" lang="zh-TW" altLang="en-US" sz="2800" dirty="0"/>
              <a:t>使用代理式人工智慧工具的注意事項</a:t>
            </a:r>
            <a:endParaRPr kumimoji="1" lang="en-US" altLang="zh-TW" sz="2800" dirty="0"/>
          </a:p>
          <a:p>
            <a:r>
              <a:rPr kumimoji="1" lang="zh-TW" altLang="en-US" sz="2800" dirty="0"/>
              <a:t>實作時間</a:t>
            </a:r>
            <a:endParaRPr kumimoji="1" lang="en-US" altLang="zh-TW" sz="2800" dirty="0"/>
          </a:p>
          <a:p>
            <a:endParaRPr kumimoji="1" lang="en-US" altLang="zh-TW" sz="2800" dirty="0"/>
          </a:p>
          <a:p>
            <a:endParaRPr kumimoji="1" lang="en-US" altLang="zh-TW" sz="2800" dirty="0"/>
          </a:p>
          <a:p>
            <a:endParaRPr kumimoji="1"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F0F8B8C-76B6-EB6A-A808-1DC13EF7B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608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E400D4-873B-AE74-BF0B-8FF866F26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77" y="356180"/>
            <a:ext cx="11910646" cy="1188720"/>
          </a:xfrm>
        </p:spPr>
        <p:txBody>
          <a:bodyPr>
            <a:normAutofit fontScale="90000"/>
          </a:bodyPr>
          <a:lstStyle/>
          <a:p>
            <a:r>
              <a:rPr kumimoji="1" lang="zh-TW" altLang="en-US" dirty="0"/>
              <a:t>什麼是人工智慧與生成式人工智慧 </a:t>
            </a:r>
            <a:br>
              <a:rPr kumimoji="1" lang="en-US" altLang="zh-TW" dirty="0"/>
            </a:br>
            <a:r>
              <a:rPr kumimoji="1" lang="en-US" altLang="zh-TW" sz="3100" dirty="0"/>
              <a:t>(Artificial Intelligence</a:t>
            </a:r>
            <a:r>
              <a:rPr kumimoji="1" lang="zh-TW" altLang="en-US" sz="3100" dirty="0"/>
              <a:t> </a:t>
            </a:r>
            <a:r>
              <a:rPr kumimoji="1" lang="en-US" altLang="zh-TW" sz="3100" dirty="0"/>
              <a:t>and Generative AI)</a:t>
            </a:r>
            <a:r>
              <a:rPr kumimoji="1" lang="zh-TW" altLang="en-US" sz="3100" dirty="0"/>
              <a:t> </a:t>
            </a:r>
            <a:r>
              <a:rPr kumimoji="1" lang="zh-TW" altLang="en-US" sz="2700" dirty="0"/>
              <a:t>？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3220F6-774F-3B28-5037-FD24A4AC8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86" y="1878008"/>
            <a:ext cx="11337052" cy="476897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TW" altLang="zh-TW" b="1" dirty="0"/>
              <a:t>人工智慧</a:t>
            </a:r>
            <a:r>
              <a:rPr lang="zh-TW" altLang="zh-TW" dirty="0"/>
              <a:t>（英語：artificial intelligence，縮寫為</a:t>
            </a:r>
            <a:r>
              <a:rPr lang="zh-TW" altLang="zh-TW" b="1" dirty="0"/>
              <a:t>AI</a:t>
            </a:r>
            <a:r>
              <a:rPr lang="zh-TW" altLang="zh-TW" dirty="0"/>
              <a:t>），是指</a:t>
            </a:r>
            <a:r>
              <a:rPr lang="zh-TW" altLang="zh-TW" dirty="0">
                <a:hlinkClick r:id="rId2" tooltip="電腦"/>
              </a:rPr>
              <a:t>電腦</a:t>
            </a:r>
            <a:r>
              <a:rPr lang="zh-TW" altLang="zh-TW" dirty="0"/>
              <a:t>系統執行通常與人類</a:t>
            </a:r>
            <a:r>
              <a:rPr lang="zh-TW" altLang="zh-TW" dirty="0">
                <a:hlinkClick r:id="rId3" tooltip="智慧"/>
              </a:rPr>
              <a:t>智慧</a:t>
            </a:r>
            <a:r>
              <a:rPr lang="zh-TW" altLang="zh-TW" dirty="0"/>
              <a:t>相關任務的能力，例如</a:t>
            </a:r>
            <a:r>
              <a:rPr lang="zh-TW" altLang="zh-TW" dirty="0">
                <a:hlinkClick r:id="rId4" tooltip="學習"/>
              </a:rPr>
              <a:t>學習</a:t>
            </a:r>
            <a:r>
              <a:rPr lang="zh-TW" altLang="zh-TW" dirty="0"/>
              <a:t>、</a:t>
            </a:r>
            <a:r>
              <a:rPr lang="zh-TW" altLang="zh-TW" dirty="0">
                <a:hlinkClick r:id="rId5" tooltip="推理"/>
              </a:rPr>
              <a:t>推理</a:t>
            </a:r>
            <a:r>
              <a:rPr lang="zh-TW" altLang="zh-TW" dirty="0"/>
              <a:t>、</a:t>
            </a:r>
            <a:r>
              <a:rPr lang="zh-TW" altLang="zh-TW" dirty="0">
                <a:hlinkClick r:id="rId6" tooltip="解決問題"/>
              </a:rPr>
              <a:t>解決問題</a:t>
            </a:r>
            <a:r>
              <a:rPr lang="zh-TW" altLang="zh-TW" dirty="0"/>
              <a:t>、</a:t>
            </a:r>
            <a:r>
              <a:rPr lang="zh-TW" altLang="zh-TW" dirty="0">
                <a:hlinkClick r:id="rId7" tooltip="感知"/>
              </a:rPr>
              <a:t>感知</a:t>
            </a:r>
            <a:r>
              <a:rPr lang="zh-TW" altLang="zh-TW" dirty="0"/>
              <a:t>和</a:t>
            </a:r>
            <a:r>
              <a:rPr lang="zh-TW" altLang="zh-TW" dirty="0">
                <a:hlinkClick r:id="rId8" tooltip="決策"/>
              </a:rPr>
              <a:t>決策</a:t>
            </a:r>
            <a:r>
              <a:rPr lang="zh-TW" altLang="zh-TW" dirty="0"/>
              <a:t>。</a:t>
            </a:r>
            <a:r>
              <a:rPr lang="zh-TW" altLang="en-US" dirty="0"/>
              <a:t> </a:t>
            </a:r>
            <a:r>
              <a:rPr lang="en-US" altLang="zh-TW" dirty="0"/>
              <a:t>---- </a:t>
            </a:r>
            <a:r>
              <a:rPr lang="zh-TW" altLang="en-US" dirty="0"/>
              <a:t>維基百科</a:t>
            </a:r>
            <a:endParaRPr lang="en-US" altLang="zh-TW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TW" altLang="en-US" b="1" dirty="0"/>
              <a:t>應用分類</a:t>
            </a:r>
            <a:endParaRPr lang="en-US" altLang="zh-TW" b="1" dirty="0"/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TW" altLang="zh-TW" b="1" dirty="0"/>
              <a:t>辨識型/分析型 AI (Discriminative AI)</a:t>
            </a:r>
            <a:r>
              <a:rPr lang="zh-TW" altLang="zh-TW" dirty="0"/>
              <a:t>：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TW" altLang="en-US" sz="2800" dirty="0"/>
              <a:t>辨識影像</a:t>
            </a:r>
            <a:r>
              <a:rPr lang="en-US" altLang="zh-TW" sz="2800" dirty="0"/>
              <a:t>/</a:t>
            </a:r>
            <a:r>
              <a:rPr lang="zh-TW" altLang="en-US" sz="2800" dirty="0"/>
              <a:t>物件</a:t>
            </a:r>
            <a:r>
              <a:rPr lang="en-US" altLang="zh-TW" sz="2800" dirty="0"/>
              <a:t>/</a:t>
            </a:r>
            <a:r>
              <a:rPr lang="zh-TW" altLang="en-US" sz="2800" dirty="0"/>
              <a:t>音訊</a:t>
            </a:r>
            <a:r>
              <a:rPr lang="en-US" altLang="zh-TW" sz="2800" dirty="0"/>
              <a:t>/</a:t>
            </a:r>
            <a:r>
              <a:rPr lang="zh-TW" altLang="en-US" sz="2800" dirty="0"/>
              <a:t>身份</a:t>
            </a:r>
            <a:r>
              <a:rPr lang="en-US" altLang="zh-TW" sz="2800" dirty="0"/>
              <a:t>/</a:t>
            </a:r>
            <a:r>
              <a:rPr lang="zh-TW" altLang="en-US" sz="2800" dirty="0"/>
              <a:t>姿勢</a:t>
            </a:r>
            <a:r>
              <a:rPr lang="en-US" altLang="zh-TW" sz="2800" dirty="0"/>
              <a:t>/</a:t>
            </a:r>
            <a:r>
              <a:rPr lang="zh-TW" altLang="en-US" sz="2800" dirty="0"/>
              <a:t>情緒</a:t>
            </a:r>
            <a:r>
              <a:rPr lang="en-US" altLang="zh-TW" sz="2800" dirty="0"/>
              <a:t>/</a:t>
            </a:r>
            <a:r>
              <a:rPr lang="zh-TW" altLang="en-US" sz="2800" dirty="0"/>
              <a:t>行為</a:t>
            </a:r>
            <a:r>
              <a:rPr lang="en-US" altLang="zh-TW" sz="2800" dirty="0"/>
              <a:t>/</a:t>
            </a:r>
            <a:r>
              <a:rPr lang="zh-TW" altLang="en-US" sz="2800" dirty="0"/>
              <a:t>語義</a:t>
            </a:r>
            <a:endParaRPr lang="en-US" altLang="zh-TW" sz="2800" dirty="0"/>
          </a:p>
          <a:p>
            <a:pPr lvl="2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TW" altLang="en-US" sz="2800" dirty="0"/>
              <a:t>資料</a:t>
            </a:r>
            <a:r>
              <a:rPr lang="zh-TW" altLang="zh-TW" sz="2800" dirty="0"/>
              <a:t>分類</a:t>
            </a:r>
            <a:r>
              <a:rPr lang="zh-TW" altLang="en-US" sz="2800" dirty="0"/>
              <a:t>：由資料判斷正常或異常，防詐、維修、健檢、馬達</a:t>
            </a:r>
            <a:r>
              <a:rPr lang="zh-TW" altLang="zh-TW" sz="2800" dirty="0"/>
              <a:t>異常</a:t>
            </a:r>
            <a:endParaRPr lang="en-US" altLang="zh-TW" sz="2800" dirty="0"/>
          </a:p>
          <a:p>
            <a:pPr lvl="2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TW" altLang="en-US" sz="2800" dirty="0"/>
              <a:t>數據分析：趨勢預測如預後判斷、庫存與需求分析、推薦、</a:t>
            </a:r>
            <a:endParaRPr lang="zh-TW" altLang="zh-TW" sz="2800" dirty="0"/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TW" altLang="zh-TW" b="1" dirty="0"/>
              <a:t>生成式 AI (Generative AI / GenAI)</a:t>
            </a:r>
            <a:r>
              <a:rPr lang="zh-TW" altLang="zh-TW" dirty="0"/>
              <a:t>：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TW" altLang="en-US" sz="2800" dirty="0"/>
              <a:t>由使用者意圖</a:t>
            </a:r>
            <a:r>
              <a:rPr lang="zh-TW" altLang="zh-TW" sz="2800" dirty="0"/>
              <a:t>創造新</a:t>
            </a:r>
            <a:r>
              <a:rPr lang="zh-TW" altLang="en-US" sz="2800" dirty="0"/>
              <a:t>的</a:t>
            </a:r>
            <a:r>
              <a:rPr lang="zh-TW" altLang="zh-TW" sz="2800" dirty="0"/>
              <a:t>文字、圖像、</a:t>
            </a:r>
            <a:r>
              <a:rPr lang="zh-TW" altLang="en-US" sz="2800" dirty="0"/>
              <a:t>影音及</a:t>
            </a:r>
            <a:r>
              <a:rPr lang="zh-TW" altLang="zh-TW" sz="2800" dirty="0"/>
              <a:t>程式碼內容。</a:t>
            </a:r>
          </a:p>
          <a:p>
            <a:pPr lvl="2">
              <a:lnSpc>
                <a:spcPct val="120000"/>
              </a:lnSpc>
              <a:spcBef>
                <a:spcPts val="0"/>
              </a:spcBef>
              <a:buFont typeface="Wingdings" pitchFamily="2" charset="2"/>
              <a:buChar char="Ø"/>
            </a:pPr>
            <a:r>
              <a:rPr lang="zh-TW" altLang="zh-TW" sz="2800" dirty="0"/>
              <a:t>自動將工安</a:t>
            </a:r>
            <a:r>
              <a:rPr lang="zh-TW" altLang="en-US" sz="2800" dirty="0"/>
              <a:t>數據</a:t>
            </a:r>
            <a:r>
              <a:rPr lang="zh-TW" altLang="zh-TW" sz="2800" dirty="0"/>
              <a:t>生成通報簡訊、快速查詢地端設備維修手冊。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endParaRPr lang="zh-TW" altLang="zh-TW" sz="24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endParaRPr kumimoji="1"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696107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C3BB36-15B4-5FD7-AA02-0EEBC15D3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生成式ａｉ</a:t>
            </a:r>
          </a:p>
        </p:txBody>
      </p:sp>
      <p:pic>
        <p:nvPicPr>
          <p:cNvPr id="11" name="圖形 10" descr="Explore about how transformer models work">
            <a:extLst>
              <a:ext uri="{FF2B5EF4-FFF2-40B4-BE49-F238E27FC236}">
                <a16:creationId xmlns:a16="http://schemas.microsoft.com/office/drawing/2014/main" id="{745180F7-4F44-3489-17A7-6A8345BA60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47750" y="1544900"/>
            <a:ext cx="5147632" cy="514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168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2C4228-197A-8A25-870D-12A3A4AC5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CPU / GPU</a:t>
            </a:r>
            <a:endParaRPr kumimoji="1" lang="zh-TW" altLang="en-US" dirty="0"/>
          </a:p>
        </p:txBody>
      </p:sp>
      <p:pic>
        <p:nvPicPr>
          <p:cNvPr id="5" name="圖片 4" descr="1.2. Programming Model — CUDA Programming Guide">
            <a:extLst>
              <a:ext uri="{FF2B5EF4-FFF2-40B4-BE49-F238E27FC236}">
                <a16:creationId xmlns:a16="http://schemas.microsoft.com/office/drawing/2014/main" id="{C84216B1-6DB1-A4A3-1C9B-AEE4CE6EF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854" y="1710368"/>
            <a:ext cx="8665955" cy="5147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585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89631F27-38DD-C6E9-F1FF-B37A676E8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49" y="176270"/>
            <a:ext cx="11927137" cy="657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36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LLM Architecture 101: Tokens, Embeddings, Vectors and Prediction | by  SynapseEdge Technology | GoPenAI">
            <a:extLst>
              <a:ext uri="{FF2B5EF4-FFF2-40B4-BE49-F238E27FC236}">
                <a16:creationId xmlns:a16="http://schemas.microsoft.com/office/drawing/2014/main" id="{48C6DA6E-B296-6837-32A4-858A41101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91" y="78921"/>
            <a:ext cx="10168618" cy="677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358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Turing Test in Artificial Intelligence: Complete Guide">
            <a:extLst>
              <a:ext uri="{FF2B5EF4-FFF2-40B4-BE49-F238E27FC236}">
                <a16:creationId xmlns:a16="http://schemas.microsoft.com/office/drawing/2014/main" id="{CFACC431-F42C-FB4D-82D8-8B0CF0F37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00" y="32440"/>
            <a:ext cx="10403059" cy="682556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718B572-A625-317A-B988-E18500ACFF7E}"/>
              </a:ext>
            </a:extLst>
          </p:cNvPr>
          <p:cNvSpPr txBox="1"/>
          <p:nvPr/>
        </p:nvSpPr>
        <p:spPr>
          <a:xfrm>
            <a:off x="7293166" y="297455"/>
            <a:ext cx="17847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 dirty="0"/>
              <a:t>圖靈測試</a:t>
            </a:r>
          </a:p>
        </p:txBody>
      </p:sp>
    </p:spTree>
    <p:extLst>
      <p:ext uri="{BB962C8B-B14F-4D97-AF65-F5344CB8AC3E}">
        <p14:creationId xmlns:p14="http://schemas.microsoft.com/office/powerpoint/2010/main" val="3744455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AI Token 介紹：Token 是什麼？理解LLM、AI 的重要知識| 白話文商學院">
            <a:extLst>
              <a:ext uri="{FF2B5EF4-FFF2-40B4-BE49-F238E27FC236}">
                <a16:creationId xmlns:a16="http://schemas.microsoft.com/office/drawing/2014/main" id="{F4588857-8570-5F50-E2F6-8138B0E72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099" y="152400"/>
            <a:ext cx="9829801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60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Medium">
            <a:extLst>
              <a:ext uri="{FF2B5EF4-FFF2-40B4-BE49-F238E27FC236}">
                <a16:creationId xmlns:a16="http://schemas.microsoft.com/office/drawing/2014/main" id="{FF2B5267-61E5-064E-D465-24814C0D2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120" y="306161"/>
            <a:ext cx="9827759" cy="655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129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How LLMs See Images, Audio, and More">
            <a:extLst>
              <a:ext uri="{FF2B5EF4-FFF2-40B4-BE49-F238E27FC236}">
                <a16:creationId xmlns:a16="http://schemas.microsoft.com/office/drawing/2014/main" id="{BD08BF1E-48D0-0E1C-BBD1-30093D684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276" y="144601"/>
            <a:ext cx="5756739" cy="6713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22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An LLM thinks. RAG retrieves. Agents act. MCP connects. Multi-agent systems  orchestrate. Governance protects. That's not a stack — that's a production  AI system. https://t.co/9qNYIvR8v4 #GenerativeAI #AI  #ArtificialIntelligence #RAG #MCP #AIStrategy #LLM">
            <a:extLst>
              <a:ext uri="{FF2B5EF4-FFF2-40B4-BE49-F238E27FC236}">
                <a16:creationId xmlns:a16="http://schemas.microsoft.com/office/drawing/2014/main" id="{24909E35-A622-977B-B564-897D57D3E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-22454"/>
            <a:ext cx="4586969" cy="6880454"/>
          </a:xfrm>
          <a:prstGeom prst="rect">
            <a:avLst/>
          </a:prstGeom>
        </p:spPr>
      </p:pic>
      <p:pic>
        <p:nvPicPr>
          <p:cNvPr id="8" name="圖片 7" descr="可能是文字的圖形">
            <a:extLst>
              <a:ext uri="{FF2B5EF4-FFF2-40B4-BE49-F238E27FC236}">
                <a16:creationId xmlns:a16="http://schemas.microsoft.com/office/drawing/2014/main" id="{8ED055AD-2ADB-A286-60AD-A46CC9DAE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610" y="-1"/>
            <a:ext cx="5591990" cy="838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448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8D6D1F-FE12-6578-CB5C-09BEBE681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Prompt types </a:t>
            </a:r>
            <a:r>
              <a:rPr lang="zh-TW" altLang="zh-TW" dirty="0"/>
              <a:t>提示類型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D4D885-B81B-07B9-77B0-51FE62FC9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87" y="1698171"/>
            <a:ext cx="11190514" cy="5159829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zh-TW" altLang="zh-TW" b="1" dirty="0"/>
              <a:t>零樣本提示（Zero-shot Prompting）</a:t>
            </a:r>
            <a:r>
              <a:rPr lang="zh-TW" altLang="zh-TW" dirty="0"/>
              <a:t> 指在不提供任何範例的情況下，直接要求模型完成任務，完全依靠模型預訓練所學到的知識來理解並回應指令。</a:t>
            </a:r>
            <a:endParaRPr lang="en-US" altLang="zh-TW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zh-TW" altLang="zh-TW" b="1" dirty="0"/>
              <a:t>少樣本提示（Few-shot Prompting）</a:t>
            </a:r>
            <a:r>
              <a:rPr lang="zh-TW" altLang="zh-TW" dirty="0"/>
              <a:t> 則與之相反，在提示中加入少量範例（通常2-5個），展示所期望的輸入輸出模式，幫助模型在處理實際任務前更好地理解預期的格式、語氣或推理方式。</a:t>
            </a:r>
            <a:endParaRPr lang="en-US" altLang="zh-TW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zh-TW" altLang="zh-TW" b="1" dirty="0"/>
              <a:t>基於指令的提示（Instruction-based Prompting）</a:t>
            </a:r>
            <a:r>
              <a:rPr lang="zh-TW" altLang="zh-TW" dirty="0"/>
              <a:t> 側重於給出清晰、明確、詳細的指令，說明模型應該做什麼——包括限定條件、格式要求、分步推理或期望的輸出結構——從而減少歧義，提高輸出的一致性。</a:t>
            </a:r>
            <a:endParaRPr lang="en-US" altLang="zh-TW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zh-TW" altLang="zh-TW" b="1" dirty="0"/>
              <a:t>基於角色的提示（Role-based Prompting）</a:t>
            </a:r>
            <a:r>
              <a:rPr lang="zh-TW" altLang="zh-TW" dirty="0"/>
              <a:t>（也稱人設提示）為模型賦予特定的身份或視角（例如「你是一位經驗豐富的金融分析師」或「扮演一名資深軟體工程師」），從而使模型的用詞、深度和表達方式與該角色所對應的專業性和語氣相符。這四種方法並非相互排斥，實務中常常結合使用——例如，一個基於角色的提示也可能同時包含少樣本範例和明確的指令——從而產生更準確、更貼合語境、結構更完善的回應。</a:t>
            </a:r>
          </a:p>
          <a:p>
            <a:endParaRPr lang="zh-TW" altLang="zh-TW" b="1" dirty="0"/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2291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20A3C3-F931-CC66-6086-62002EB83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Prompts</a:t>
            </a:r>
            <a:r>
              <a:rPr lang="zh-TW" altLang="zh-TW" dirty="0"/>
              <a:t>提示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8AB87A-A647-16EA-92CD-0F9ED3D4D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pic>
        <p:nvPicPr>
          <p:cNvPr id="4" name="圖片 3" descr="Prompt Engineering Best Practices: Building Reliable LLM Systems With  Evaluation Frameworks">
            <a:extLst>
              <a:ext uri="{FF2B5EF4-FFF2-40B4-BE49-F238E27FC236}">
                <a16:creationId xmlns:a16="http://schemas.microsoft.com/office/drawing/2014/main" id="{FFE2C21C-4FA1-206C-8A4C-281D54294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291" y="1544900"/>
            <a:ext cx="615541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844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Prompt Engineering as Part of the Development Process: Key Techniques  Explained |Axon">
            <a:extLst>
              <a:ext uri="{FF2B5EF4-FFF2-40B4-BE49-F238E27FC236}">
                <a16:creationId xmlns:a16="http://schemas.microsoft.com/office/drawing/2014/main" id="{A6959095-F84B-D17F-C2BC-CD7DC2871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672693"/>
            <a:ext cx="11887200" cy="5512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258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80D138-F0C8-A834-21C3-5C9048CE7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SKILL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21AC4A-6266-B05D-7A7B-68295AFBC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zh-TW" dirty="0"/>
              <a:t>一個標準的 LLM Skill 通常包含以下結構</a:t>
            </a:r>
          </a:p>
          <a:p>
            <a:pPr lvl="0"/>
            <a:r>
              <a:rPr lang="zh-TW" altLang="zh-TW" b="1" dirty="0"/>
              <a:t>清晰的技能描述</a:t>
            </a:r>
            <a:r>
              <a:rPr lang="zh-TW" altLang="zh-TW" dirty="0"/>
              <a:t>：告訴 AI 這個技能的用途與適合使用的情境（觸發條件）。</a:t>
            </a:r>
          </a:p>
          <a:p>
            <a:pPr lvl="0"/>
            <a:r>
              <a:rPr lang="zh-TW" altLang="zh-TW" b="1" dirty="0"/>
              <a:t>詳細的系統提示詞 (Instructions)</a:t>
            </a:r>
            <a:r>
              <a:rPr lang="zh-TW" altLang="zh-TW" dirty="0"/>
              <a:t>：規定 AI 在執行此任務時必須遵守的步驟、語氣、品牌風格及輸出格式。</a:t>
            </a:r>
          </a:p>
          <a:p>
            <a:pPr lvl="0"/>
            <a:r>
              <a:rPr lang="zh-TW" altLang="zh-TW" b="1" dirty="0"/>
              <a:t>參考範例 (Few-shot Examples)</a:t>
            </a:r>
            <a:r>
              <a:rPr lang="zh-TW" altLang="zh-TW" dirty="0"/>
              <a:t>：提供正確執行的輸入與輸出範例，確保 AI 理解預期結果。</a:t>
            </a:r>
          </a:p>
          <a:p>
            <a:pPr lvl="0"/>
            <a:r>
              <a:rPr lang="zh-TW" altLang="zh-TW" b="1" dirty="0"/>
              <a:t>程式腳本與資源</a:t>
            </a:r>
            <a:r>
              <a:rPr lang="zh-TW" altLang="zh-TW" dirty="0"/>
              <a:t>：內含可執行的腳本、API 規範或小型參考文件，讓 AI 能採取實際行動（如聯網、計算、讀檔）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87252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Global Agentic Artificial Intelligence Development Platform Market ">
            <a:extLst>
              <a:ext uri="{FF2B5EF4-FFF2-40B4-BE49-F238E27FC236}">
                <a16:creationId xmlns:a16="http://schemas.microsoft.com/office/drawing/2014/main" id="{CDC16F92-BE5C-CDB1-2FE4-6457F1B75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157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8E49A3-7E14-1888-ABE7-A6A54FD8E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什麼是自主代理人工智慧 </a:t>
            </a:r>
            <a:r>
              <a:rPr kumimoji="1" lang="en-US" altLang="zh-TW" dirty="0"/>
              <a:t>(Agentic Ai)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406AB2-85CD-2726-75AE-6C50EA1B3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zh-TW" b="1" dirty="0"/>
              <a:t>Agentic AI</a:t>
            </a:r>
            <a:r>
              <a:rPr lang="zh-TW" altLang="zh-TW" dirty="0"/>
              <a:t>（自主代理 AI）是一種前沿的 AI 技術，具備</a:t>
            </a:r>
            <a:r>
              <a:rPr lang="zh-TW" altLang="zh-TW" b="1" dirty="0"/>
              <a:t>獨立決策</a:t>
            </a:r>
            <a:r>
              <a:rPr lang="zh-TW" altLang="zh-TW" dirty="0"/>
              <a:t>與</a:t>
            </a:r>
            <a:r>
              <a:rPr lang="zh-TW" altLang="zh-TW" b="1" dirty="0"/>
              <a:t>自主執行目標導向任務</a:t>
            </a:r>
            <a:r>
              <a:rPr lang="zh-TW" altLang="zh-TW" dirty="0"/>
              <a:t>的能力，無需使用者持續干預。</a:t>
            </a:r>
          </a:p>
          <a:p>
            <a:pPr lvl="0"/>
            <a:r>
              <a:rPr lang="en-US" altLang="zh-TW" dirty="0"/>
              <a:t>AI</a:t>
            </a:r>
            <a:r>
              <a:rPr lang="zh-TW" altLang="en-US" dirty="0"/>
              <a:t>代理是一種軟體，</a:t>
            </a:r>
            <a:r>
              <a:rPr lang="zh-TW" altLang="zh-TW" dirty="0"/>
              <a:t>能進一步評估</a:t>
            </a:r>
            <a:r>
              <a:rPr lang="zh-TW" altLang="en-US" dirty="0"/>
              <a:t>環境</a:t>
            </a:r>
            <a:r>
              <a:rPr lang="zh-TW" altLang="zh-TW" dirty="0"/>
              <a:t>情境、安排目標優先順序、根據環境變化動態調整，並透過多方數據自主找出執行解決方案。</a:t>
            </a:r>
          </a:p>
          <a:p>
            <a:pPr lvl="0"/>
            <a:r>
              <a:rPr lang="zh-TW" altLang="zh-TW" b="1" dirty="0"/>
              <a:t>重要價值與應用：</a:t>
            </a:r>
            <a:r>
              <a:rPr lang="zh-TW" altLang="zh-TW" dirty="0"/>
              <a:t> 專門處理因</a:t>
            </a:r>
            <a:r>
              <a:rPr lang="zh-TW" altLang="zh-TW" b="1" dirty="0"/>
              <a:t>高度複雜性、緊急性或資源需求過大</a:t>
            </a:r>
            <a:r>
              <a:rPr lang="zh-TW" altLang="zh-TW" dirty="0"/>
              <a:t>而超越人類能力的任務。關鍵應用領域包括個人化客戶體驗、開發流程最佳化、資料中心營運、自動駕駛以及精準/適應性醫療。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82005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C7724B-576D-63AA-7272-82293A14F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/>
              <a:t>自主代理 AI </a:t>
            </a:r>
            <a:r>
              <a:rPr lang="zh-TW" altLang="en-US" b="1" dirty="0"/>
              <a:t>的</a:t>
            </a:r>
            <a:r>
              <a:rPr lang="zh-TW" altLang="zh-TW" b="1" dirty="0"/>
              <a:t>效益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04E3D9-ADD1-B90D-A691-0930B6ED2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TW" altLang="zh-TW" b="1" dirty="0"/>
              <a:t>可擴充性 (Scalability)：</a:t>
            </a:r>
            <a:r>
              <a:rPr lang="zh-TW" altLang="zh-TW" dirty="0"/>
              <a:t> 能處理巨量資料與</a:t>
            </a:r>
            <a:r>
              <a:rPr lang="zh-TW" altLang="en-US" dirty="0"/>
              <a:t>滿足</a:t>
            </a:r>
            <a:r>
              <a:rPr lang="zh-TW" altLang="zh-TW" dirty="0"/>
              <a:t>複雜營運需求。</a:t>
            </a:r>
          </a:p>
          <a:p>
            <a:pPr lvl="0"/>
            <a:r>
              <a:rPr lang="zh-TW" altLang="zh-TW" b="1" dirty="0"/>
              <a:t>高效率性 (Efficiency)：</a:t>
            </a:r>
            <a:r>
              <a:rPr lang="zh-TW" altLang="zh-TW" dirty="0"/>
              <a:t> 加速決策制定過程</a:t>
            </a:r>
            <a:r>
              <a:rPr lang="zh-TW" altLang="en-US" dirty="0"/>
              <a:t>並</a:t>
            </a:r>
            <a:r>
              <a:rPr lang="zh-TW" altLang="zh-TW" dirty="0"/>
              <a:t>將人為失誤降至最低。</a:t>
            </a:r>
          </a:p>
          <a:p>
            <a:pPr lvl="0"/>
            <a:r>
              <a:rPr lang="zh-TW" altLang="zh-TW" b="1" dirty="0"/>
              <a:t>適應能力 (Adaptability)：</a:t>
            </a:r>
            <a:r>
              <a:rPr lang="zh-TW" altLang="zh-TW" dirty="0"/>
              <a:t> 具備學習能力，可根據經驗調整策略。</a:t>
            </a:r>
          </a:p>
          <a:p>
            <a:pPr lvl="0"/>
            <a:r>
              <a:rPr lang="zh-TW" altLang="zh-TW" b="1" dirty="0"/>
              <a:t>資源最佳化 (Resource Optimization)：</a:t>
            </a:r>
            <a:r>
              <a:rPr lang="zh-TW" altLang="zh-TW" dirty="0"/>
              <a:t> 自動化</a:t>
            </a:r>
            <a:r>
              <a:rPr lang="zh-TW" altLang="en-US" dirty="0"/>
              <a:t>配置資源，提升效能</a:t>
            </a:r>
            <a:r>
              <a:rPr lang="zh-TW" altLang="zh-TW" dirty="0"/>
              <a:t>。</a:t>
            </a:r>
          </a:p>
          <a:p>
            <a:pPr lvl="0"/>
            <a:r>
              <a:rPr lang="zh-TW" altLang="zh-TW" b="1" dirty="0"/>
              <a:t>驅動創新 (Innovation)：</a:t>
            </a:r>
            <a:r>
              <a:rPr lang="zh-TW" altLang="zh-TW" dirty="0"/>
              <a:t> 開啟</a:t>
            </a:r>
            <a:r>
              <a:rPr lang="zh-TW" altLang="en-US" dirty="0"/>
              <a:t>探索未知技術</a:t>
            </a:r>
            <a:r>
              <a:rPr lang="zh-TW" altLang="zh-TW" dirty="0"/>
              <a:t>，推動科技進展。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168584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9DF083-0CE6-ACF0-028D-44A860795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b="1" dirty="0"/>
              <a:t>Agentic AI </a:t>
            </a:r>
            <a:r>
              <a:rPr lang="zh-TW" altLang="en-US" b="1" dirty="0"/>
              <a:t>運作</a:t>
            </a:r>
            <a:r>
              <a:rPr lang="zh-TW" altLang="zh-TW" b="1" dirty="0"/>
              <a:t>架構與優勢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AD61E5-9014-11AF-E5FA-601BFBBEA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87" y="1698171"/>
            <a:ext cx="11190514" cy="4885509"/>
          </a:xfrm>
        </p:spPr>
        <p:txBody>
          <a:bodyPr>
            <a:normAutofit fontScale="85000" lnSpcReduction="10000"/>
          </a:bodyPr>
          <a:lstStyle/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TW" altLang="zh-TW" b="1" dirty="0"/>
              <a:t>獨立性與規模化 (Autonomy &amp; Scalability)：</a:t>
            </a:r>
            <a:r>
              <a:rPr lang="zh-TW" altLang="zh-TW" dirty="0"/>
              <a:t> Agentic AI 能在</a:t>
            </a:r>
            <a:r>
              <a:rPr lang="zh-TW" altLang="en-US" dirty="0"/>
              <a:t>無</a:t>
            </a:r>
            <a:r>
              <a:rPr lang="zh-TW" altLang="zh-TW" dirty="0"/>
              <a:t>人工干預的情況下獨立運作，提升反應速度與效率，在醫療、物流及環境監測等領域實現更高的可擴充性。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TW" altLang="zh-TW" b="1" dirty="0"/>
              <a:t>混合式架構設計 (Hybrid Architecture)：</a:t>
            </a:r>
            <a:endParaRPr lang="zh-TW" altLang="zh-TW" dirty="0"/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TW" altLang="zh-TW" dirty="0"/>
              <a:t>結合</a:t>
            </a:r>
            <a:r>
              <a:rPr lang="zh-TW" altLang="zh-TW" b="1" dirty="0"/>
              <a:t>傳統程式碼</a:t>
            </a:r>
            <a:r>
              <a:rPr lang="zh-TW" altLang="en-US" b="1" dirty="0"/>
              <a:t>與</a:t>
            </a:r>
            <a:r>
              <a:rPr lang="zh-TW" altLang="zh-TW" b="1" dirty="0"/>
              <a:t>LLM </a:t>
            </a:r>
            <a:r>
              <a:rPr lang="zh-TW" altLang="en-US" b="1" dirty="0"/>
              <a:t>可以</a:t>
            </a:r>
            <a:r>
              <a:rPr lang="zh-TW" altLang="zh-TW" dirty="0"/>
              <a:t>處理動態環境</a:t>
            </a:r>
            <a:r>
              <a:rPr lang="zh-TW" altLang="en-US" dirty="0"/>
              <a:t>下的</a:t>
            </a:r>
            <a:r>
              <a:rPr lang="zh-TW" altLang="zh-TW" dirty="0"/>
              <a:t>推理。</a:t>
            </a:r>
          </a:p>
          <a:p>
            <a:pPr lvl="2">
              <a:lnSpc>
                <a:spcPct val="150000"/>
              </a:lnSpc>
              <a:spcBef>
                <a:spcPts val="0"/>
              </a:spcBef>
            </a:pPr>
            <a:r>
              <a:rPr lang="zh-TW" altLang="zh-TW" dirty="0"/>
              <a:t>支持多 Agent 協同</a:t>
            </a:r>
            <a:r>
              <a:rPr lang="zh-TW" altLang="en-US" dirty="0"/>
              <a:t>工作</a:t>
            </a:r>
            <a:r>
              <a:rPr lang="zh-TW" altLang="zh-TW" dirty="0"/>
              <a:t>，發揮</a:t>
            </a:r>
            <a:r>
              <a:rPr lang="zh-TW" altLang="en-US" dirty="0"/>
              <a:t>解題能力</a:t>
            </a:r>
            <a:r>
              <a:rPr lang="zh-TW" altLang="zh-TW" dirty="0"/>
              <a:t>。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TW" altLang="zh-TW" b="1" dirty="0"/>
              <a:t>主動式數據互動 (Dynamic Data Interaction)：</a:t>
            </a:r>
            <a:r>
              <a:rPr lang="zh-TW" altLang="zh-TW" dirty="0"/>
              <a:t> </a:t>
            </a:r>
            <a:r>
              <a:rPr lang="zh-TW" altLang="en-US" dirty="0"/>
              <a:t>解鎖</a:t>
            </a:r>
            <a:r>
              <a:rPr lang="zh-TW" altLang="zh-TW" dirty="0"/>
              <a:t>靜態 LLM 的限制，能主動呼叫 API、查詢資料庫及檢索即時網路資訊，並整合物聯網（IoT）裝置與社群數據，持續</a:t>
            </a:r>
            <a:r>
              <a:rPr lang="zh-TW" altLang="en-US" dirty="0"/>
              <a:t>獲取</a:t>
            </a:r>
            <a:r>
              <a:rPr lang="zh-TW" altLang="zh-TW" dirty="0"/>
              <a:t>最新</a:t>
            </a:r>
            <a:r>
              <a:rPr lang="zh-TW" altLang="en-US" dirty="0"/>
              <a:t>數據</a:t>
            </a:r>
            <a:r>
              <a:rPr lang="zh-TW" altLang="zh-TW" dirty="0"/>
              <a:t>。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zh-TW" altLang="zh-TW" b="1" dirty="0"/>
              <a:t>自我優化與長遠目標執行 (Feedback Loops &amp; Long-Term Goals)：</a:t>
            </a:r>
            <a:r>
              <a:rPr lang="zh-TW" altLang="zh-TW" dirty="0"/>
              <a:t> 透過反饋機制，</a:t>
            </a:r>
            <a:r>
              <a:rPr lang="zh-TW" altLang="en-US" dirty="0"/>
              <a:t>學習並持續優化</a:t>
            </a:r>
            <a:r>
              <a:rPr lang="zh-TW" altLang="zh-TW" dirty="0"/>
              <a:t>策略；同時具備執行多驟複雜任務</a:t>
            </a:r>
            <a:r>
              <a:rPr lang="zh-TW" altLang="en-US" dirty="0"/>
              <a:t>，可</a:t>
            </a:r>
            <a:r>
              <a:rPr lang="zh-TW" altLang="zh-TW" dirty="0"/>
              <a:t>長期監控進度並維持不間斷</a:t>
            </a:r>
            <a:r>
              <a:rPr lang="zh-TW" altLang="en-US" dirty="0"/>
              <a:t>的</a:t>
            </a:r>
            <a:r>
              <a:rPr lang="zh-TW" altLang="zh-TW" dirty="0"/>
              <a:t>自主運作能力。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76381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D6C1A5-A0CC-E783-725E-B49697CF5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56180"/>
            <a:ext cx="4865914" cy="1188720"/>
          </a:xfrm>
        </p:spPr>
        <p:txBody>
          <a:bodyPr/>
          <a:lstStyle/>
          <a:p>
            <a:r>
              <a:rPr kumimoji="1" lang="en-US" altLang="zh-TW" dirty="0"/>
              <a:t>AI </a:t>
            </a:r>
            <a:r>
              <a:rPr kumimoji="1" lang="zh-TW" altLang="en-US" dirty="0"/>
              <a:t>代理運作方式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FF7EC7-CE3E-8A5B-8E05-A70C5BEB22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87" y="1698171"/>
            <a:ext cx="5442608" cy="4314009"/>
          </a:xfrm>
        </p:spPr>
        <p:txBody>
          <a:bodyPr>
            <a:normAutofit fontScale="25000" lnSpcReduction="20000"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zh-TW" altLang="zh-TW" sz="6400" b="1" dirty="0"/>
              <a:t>Agentic AI 的四大運作循環 (Agentic AI Loop)</a:t>
            </a:r>
          </a:p>
          <a:p>
            <a:pPr lvl="0">
              <a:lnSpc>
                <a:spcPct val="150000"/>
              </a:lnSpc>
              <a:spcBef>
                <a:spcPts val="400"/>
              </a:spcBef>
            </a:pPr>
            <a:r>
              <a:rPr lang="zh-TW" altLang="zh-TW" sz="6400" b="1" dirty="0"/>
              <a:t>1. 感知 (Perceive)：</a:t>
            </a:r>
            <a:r>
              <a:rPr lang="zh-TW" altLang="zh-TW" sz="6400" dirty="0"/>
              <a:t> 從感測器、資料庫與數位介面等管道收集並分析數據，辨識環境中的關鍵特徵、物件與實體。</a:t>
            </a:r>
          </a:p>
          <a:p>
            <a:pPr lvl="0">
              <a:lnSpc>
                <a:spcPct val="150000"/>
              </a:lnSpc>
              <a:spcBef>
                <a:spcPts val="400"/>
              </a:spcBef>
            </a:pPr>
            <a:r>
              <a:rPr lang="zh-TW" altLang="zh-TW" sz="6400" b="1" dirty="0"/>
              <a:t>2. 推理 (Reason)：</a:t>
            </a:r>
            <a:r>
              <a:rPr lang="zh-TW" altLang="zh-TW" sz="6400" dirty="0"/>
              <a:t> 以大語言模型（LLM）作為核心推理引擎，理解任務並規劃解法，</a:t>
            </a:r>
            <a:r>
              <a:rPr lang="zh-TW" altLang="en-US" sz="6400" dirty="0"/>
              <a:t>調用</a:t>
            </a:r>
            <a:r>
              <a:rPr lang="zh-TW" altLang="zh-TW" sz="6400" dirty="0"/>
              <a:t>模型；並結合 </a:t>
            </a:r>
            <a:r>
              <a:rPr lang="zh-TW" altLang="zh-TW" sz="6400" b="1" dirty="0"/>
              <a:t>RAG（檢索增強生成）</a:t>
            </a:r>
            <a:r>
              <a:rPr lang="zh-TW" altLang="zh-TW" sz="6400" dirty="0"/>
              <a:t> 技術導入企業私有數據，確保</a:t>
            </a:r>
            <a:r>
              <a:rPr lang="zh-TW" altLang="en-US" sz="6400" dirty="0"/>
              <a:t>正確</a:t>
            </a:r>
            <a:r>
              <a:rPr lang="zh-TW" altLang="zh-TW" sz="6400" dirty="0"/>
              <a:t>輸出且符合情境</a:t>
            </a:r>
            <a:r>
              <a:rPr lang="zh-TW" altLang="en-US" sz="6400" dirty="0"/>
              <a:t>需求</a:t>
            </a:r>
            <a:r>
              <a:rPr lang="zh-TW" altLang="zh-TW" sz="6400" dirty="0"/>
              <a:t>。</a:t>
            </a:r>
          </a:p>
          <a:p>
            <a:pPr lvl="0">
              <a:lnSpc>
                <a:spcPct val="150000"/>
              </a:lnSpc>
              <a:spcBef>
                <a:spcPts val="400"/>
              </a:spcBef>
            </a:pPr>
            <a:r>
              <a:rPr lang="zh-TW" altLang="zh-TW" sz="6400" b="1" dirty="0"/>
              <a:t>3. 行動 (Act</a:t>
            </a:r>
            <a:r>
              <a:rPr lang="en-US" altLang="zh-TW" sz="6400" b="1" dirty="0"/>
              <a:t>ion</a:t>
            </a:r>
            <a:r>
              <a:rPr lang="zh-TW" altLang="zh-TW" sz="6400" b="1" dirty="0"/>
              <a:t>)：</a:t>
            </a:r>
            <a:r>
              <a:rPr lang="zh-TW" altLang="zh-TW" sz="6400" dirty="0"/>
              <a:t> 透過 API 串接外部</a:t>
            </a:r>
            <a:r>
              <a:rPr lang="zh-TW" altLang="en-US" sz="6400" dirty="0"/>
              <a:t>資料庫</a:t>
            </a:r>
            <a:r>
              <a:rPr lang="zh-TW" altLang="zh-TW" sz="6400" dirty="0"/>
              <a:t>與</a:t>
            </a:r>
            <a:r>
              <a:rPr lang="zh-TW" altLang="en-US" sz="6400" dirty="0"/>
              <a:t>服務系統</a:t>
            </a:r>
            <a:r>
              <a:rPr lang="zh-TW" altLang="zh-TW" sz="6400" dirty="0"/>
              <a:t>執行任務規劃；</a:t>
            </a:r>
            <a:r>
              <a:rPr lang="zh-TW" altLang="en-US" sz="6400" dirty="0"/>
              <a:t>並</a:t>
            </a:r>
            <a:r>
              <a:rPr lang="zh-TW" altLang="zh-TW" sz="6400" dirty="0"/>
              <a:t>設定安全防護機制確保任務</a:t>
            </a:r>
            <a:r>
              <a:rPr lang="zh-TW" altLang="en-US" sz="6400" dirty="0"/>
              <a:t>安全</a:t>
            </a:r>
            <a:r>
              <a:rPr lang="zh-TW" altLang="zh-TW" sz="6400" dirty="0"/>
              <a:t>合規。</a:t>
            </a:r>
          </a:p>
          <a:p>
            <a:pPr lvl="0">
              <a:lnSpc>
                <a:spcPct val="150000"/>
              </a:lnSpc>
              <a:spcBef>
                <a:spcPts val="400"/>
              </a:spcBef>
            </a:pPr>
            <a:r>
              <a:rPr lang="zh-TW" altLang="zh-TW" sz="6400" b="1" dirty="0"/>
              <a:t>4. 學習 (Learn)：</a:t>
            </a:r>
            <a:r>
              <a:rPr lang="zh-TW" altLang="zh-TW" sz="6400" dirty="0"/>
              <a:t> 建立持續反饋機制，</a:t>
            </a:r>
            <a:r>
              <a:rPr lang="zh-TW" altLang="en-US" sz="6400" dirty="0"/>
              <a:t>由回饋</a:t>
            </a:r>
            <a:r>
              <a:rPr lang="zh-TW" altLang="zh-TW" sz="6400" dirty="0"/>
              <a:t>資料</a:t>
            </a:r>
            <a:r>
              <a:rPr lang="zh-TW" altLang="en-US" sz="6400" dirty="0"/>
              <a:t>學習得到新</a:t>
            </a:r>
            <a:r>
              <a:rPr lang="zh-TW" altLang="zh-TW" sz="6400" dirty="0"/>
              <a:t>模型，</a:t>
            </a:r>
            <a:r>
              <a:rPr lang="zh-TW" altLang="en-US" sz="6400" dirty="0"/>
              <a:t>優化</a:t>
            </a:r>
            <a:r>
              <a:rPr lang="zh-TW" altLang="zh-TW" sz="6400" dirty="0"/>
              <a:t>企業決策與營運能力。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A0A6D85-D8D3-8FFC-562B-1EE97BE5F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695" y="184829"/>
            <a:ext cx="6123905" cy="639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211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67BE92-5411-A183-435B-FC3A347F3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使用人工智慧工具時的注意事項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38E74B-7DE8-4FC3-DB2D-B1E21F0826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9147313" cy="402412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zh-TW" altLang="zh-TW" sz="3600" dirty="0"/>
              <a:t>資安與機密保護</a:t>
            </a:r>
            <a:endParaRPr lang="en-US" altLang="zh-TW" sz="3600" dirty="0"/>
          </a:p>
          <a:p>
            <a:pPr lvl="1">
              <a:lnSpc>
                <a:spcPct val="150000"/>
              </a:lnSpc>
            </a:pPr>
            <a:r>
              <a:rPr lang="zh-TW" altLang="en-US" sz="2800" b="1" dirty="0"/>
              <a:t>杜絕</a:t>
            </a:r>
            <a:r>
              <a:rPr lang="zh-TW" altLang="zh-TW" sz="2800" b="1" dirty="0"/>
              <a:t>機密配方與製程數據外流風險</a:t>
            </a:r>
            <a:endParaRPr lang="zh-TW" altLang="zh-TW" sz="2800" dirty="0"/>
          </a:p>
          <a:p>
            <a:pPr lvl="2">
              <a:lnSpc>
                <a:spcPct val="150000"/>
              </a:lnSpc>
            </a:pPr>
            <a:r>
              <a:rPr lang="zh-TW" altLang="zh-TW" sz="2400" dirty="0"/>
              <a:t>上傳至公有雲 AI 模型</a:t>
            </a:r>
            <a:r>
              <a:rPr lang="zh-TW" altLang="en-US" sz="2400" dirty="0"/>
              <a:t>的數據</a:t>
            </a:r>
            <a:r>
              <a:rPr lang="zh-TW" altLang="zh-TW" sz="2400" dirty="0"/>
              <a:t>可能被轉為對方的訓練資料。</a:t>
            </a:r>
          </a:p>
          <a:p>
            <a:pPr lvl="1">
              <a:lnSpc>
                <a:spcPct val="150000"/>
              </a:lnSpc>
            </a:pPr>
            <a:r>
              <a:rPr lang="zh-TW" altLang="zh-TW" sz="2800" b="1" dirty="0"/>
              <a:t>建立企業資料不出廠的防火牆</a:t>
            </a:r>
            <a:endParaRPr lang="zh-TW" altLang="zh-TW" sz="2800" dirty="0"/>
          </a:p>
          <a:p>
            <a:pPr lvl="2">
              <a:lnSpc>
                <a:spcPct val="150000"/>
              </a:lnSpc>
            </a:pPr>
            <a:r>
              <a:rPr lang="zh-TW" altLang="zh-TW" sz="2400" dirty="0"/>
              <a:t>優先選擇地端部署（On-Premises）或具備企業級資安協定（Enterprise Plan）的 AI 服務。</a:t>
            </a:r>
          </a:p>
          <a:p>
            <a:pPr lvl="2">
              <a:lnSpc>
                <a:spcPct val="150000"/>
              </a:lnSpc>
            </a:pPr>
            <a:r>
              <a:rPr lang="zh-TW" altLang="zh-TW" sz="2400" dirty="0"/>
              <a:t>制定員工使用 AI 工具的資料分級管理辦法，機密等級以上的資料嚴禁外傳。</a:t>
            </a:r>
          </a:p>
          <a:p>
            <a:pPr lvl="1"/>
            <a:endParaRPr lang="zh-TW" altLang="zh-TW" sz="3400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6089FF-D30A-0911-F23A-DF79ED640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pPr/>
              <a:t>22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58121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A226ED-458A-4AEC-837A-E128F1426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什麼是資訊安全？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B64A7D-2728-43D3-AE85-AD463450F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512127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zh-TW" altLang="en-US" sz="2400" dirty="0"/>
              <a:t>資訊安全指的是保護資料、系統和網路，確保它們免受內部或外部威脅的攻擊。這包括防止資料洩露、未經授權的存取、篡改或破壞，最終目的是確保系統和資料安全與穩定運行</a:t>
            </a:r>
          </a:p>
          <a:p>
            <a:pPr lvl="1">
              <a:lnSpc>
                <a:spcPct val="110000"/>
              </a:lnSpc>
            </a:pPr>
            <a:r>
              <a:rPr lang="zh-TW" altLang="en-US" dirty="0"/>
              <a:t>技術防護：</a:t>
            </a:r>
          </a:p>
          <a:p>
            <a:pPr lvl="2">
              <a:lnSpc>
                <a:spcPct val="110000"/>
              </a:lnSpc>
            </a:pPr>
            <a:r>
              <a:rPr lang="zh-TW" altLang="en-US" dirty="0"/>
              <a:t>包括加密技術、身份驗證等技術，確保資料在儲存或傳輸過程中不被未經授權的用戶讀取或修改</a:t>
            </a:r>
          </a:p>
          <a:p>
            <a:pPr lvl="1">
              <a:lnSpc>
                <a:spcPct val="110000"/>
              </a:lnSpc>
            </a:pPr>
            <a:r>
              <a:rPr lang="zh-TW" altLang="en-US" dirty="0"/>
              <a:t>管理措施：</a:t>
            </a:r>
          </a:p>
          <a:p>
            <a:pPr lvl="2">
              <a:lnSpc>
                <a:spcPct val="110000"/>
              </a:lnSpc>
            </a:pPr>
            <a:r>
              <a:rPr lang="zh-TW" altLang="en-US" dirty="0"/>
              <a:t>包括風險評估、安全稽核等措施，可以幫助企業持續監控潛在的安全威脅並主動採取防範行動</a:t>
            </a:r>
          </a:p>
          <a:p>
            <a:pPr lvl="1">
              <a:lnSpc>
                <a:spcPct val="110000"/>
              </a:lnSpc>
            </a:pPr>
            <a:r>
              <a:rPr lang="zh-TW" altLang="en-US" dirty="0"/>
              <a:t>人員操作：</a:t>
            </a:r>
          </a:p>
          <a:p>
            <a:pPr lvl="2">
              <a:lnSpc>
                <a:spcPct val="110000"/>
              </a:lnSpc>
            </a:pPr>
            <a:r>
              <a:rPr lang="zh-TW" altLang="en-US" dirty="0"/>
              <a:t>提供培訓和教育，讓員工能夠正確處理和保護敏感資料，減少內部人員的錯誤操作帶來的風險</a:t>
            </a:r>
            <a:r>
              <a:rPr lang="en-US" altLang="zh-TW" dirty="0"/>
              <a:t>	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C2587B-7B1C-469A-84C8-94B5E43C1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DFEA6-1606-44CA-BC0D-F38B0CB0160F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5469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5B2503-11C9-4B60-99B9-C3068B11F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844" y="261257"/>
            <a:ext cx="11291285" cy="756356"/>
          </a:xfrm>
        </p:spPr>
        <p:txBody>
          <a:bodyPr/>
          <a:lstStyle/>
          <a:p>
            <a:r>
              <a:rPr lang="zh-TW" altLang="en-US" dirty="0"/>
              <a:t>資訊安全三要素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488FAC-2543-4495-A023-95D7279E2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8844" y="1203158"/>
            <a:ext cx="6357256" cy="5393585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sz="2200" dirty="0"/>
              <a:t>CIA </a:t>
            </a:r>
            <a:r>
              <a:rPr lang="zh-TW" altLang="en-US" sz="2200" dirty="0"/>
              <a:t>金字塔模型 </a:t>
            </a:r>
            <a:r>
              <a:rPr lang="en-US" altLang="zh-TW" sz="2200" dirty="0"/>
              <a:t>-</a:t>
            </a:r>
            <a:r>
              <a:rPr lang="zh-TW" altLang="en-US" sz="2200" dirty="0"/>
              <a:t> 資訊安全的核心概念，包括機密性、完整性和可用性，這三者缺一不可</a:t>
            </a:r>
            <a:endParaRPr lang="en-US" altLang="zh-TW" sz="2200" dirty="0"/>
          </a:p>
          <a:p>
            <a:endParaRPr lang="en-US" altLang="zh-TW" sz="1000" dirty="0"/>
          </a:p>
          <a:p>
            <a:pPr lvl="1"/>
            <a:r>
              <a:rPr lang="zh-TW" altLang="en-US" dirty="0"/>
              <a:t>機密性（</a:t>
            </a:r>
            <a:r>
              <a:rPr lang="en-US" altLang="zh-TW" dirty="0"/>
              <a:t>Confidentiality</a:t>
            </a:r>
            <a:r>
              <a:rPr lang="zh-TW" altLang="en-US" dirty="0"/>
              <a:t>）：</a:t>
            </a:r>
          </a:p>
          <a:p>
            <a:pPr lvl="2"/>
            <a:r>
              <a:rPr lang="zh-TW" altLang="en-US" sz="1800" dirty="0"/>
              <a:t>採用適當的安全機制保護資料和資源</a:t>
            </a:r>
            <a:r>
              <a:rPr lang="zh-TW" altLang="en-US" sz="1800" dirty="0">
                <a:solidFill>
                  <a:srgbClr val="FF0000"/>
                </a:solidFill>
              </a:rPr>
              <a:t>免曝露於無權限人員或程式</a:t>
            </a:r>
            <a:r>
              <a:rPr lang="zh-TW" altLang="en-US" sz="1800" dirty="0"/>
              <a:t>之下，而危害到資訊安全</a:t>
            </a:r>
            <a:endParaRPr lang="en-US" altLang="zh-TW" sz="1800" dirty="0"/>
          </a:p>
          <a:p>
            <a:pPr lvl="2"/>
            <a:r>
              <a:rPr lang="zh-TW" altLang="en-US" sz="1800" dirty="0"/>
              <a:t>機密性確保只有授權的個人或系統能夠存取資料，</a:t>
            </a:r>
            <a:r>
              <a:rPr lang="zh-TW" altLang="en-US" sz="1800" dirty="0">
                <a:highlight>
                  <a:srgbClr val="FFFF00"/>
                </a:highlight>
              </a:rPr>
              <a:t>防止未經授權的存取</a:t>
            </a:r>
          </a:p>
          <a:p>
            <a:pPr lvl="2"/>
            <a:endParaRPr lang="zh-TW" altLang="en-US" sz="1300" dirty="0"/>
          </a:p>
          <a:p>
            <a:pPr lvl="1"/>
            <a:r>
              <a:rPr lang="zh-TW" altLang="en-US" dirty="0"/>
              <a:t>完整性（</a:t>
            </a:r>
            <a:r>
              <a:rPr lang="en-US" altLang="zh-TW" dirty="0"/>
              <a:t>Integrity</a:t>
            </a:r>
            <a:r>
              <a:rPr lang="zh-TW" altLang="en-US" dirty="0"/>
              <a:t>）：</a:t>
            </a:r>
          </a:p>
          <a:p>
            <a:pPr lvl="2"/>
            <a:r>
              <a:rPr lang="zh-TW" altLang="en-US" sz="1800" dirty="0"/>
              <a:t>維持資料原來的狀態，只允許有權限的使用者可以修改資料內容。在資料內部與外部均須維持資料的一致性</a:t>
            </a:r>
            <a:endParaRPr lang="en-US" altLang="zh-TW" sz="1800" dirty="0"/>
          </a:p>
          <a:p>
            <a:pPr lvl="2"/>
            <a:r>
              <a:rPr lang="zh-TW" altLang="en-US" sz="1800" dirty="0"/>
              <a:t>完整性保證資料在傳輸、處理或儲存過程中不會</a:t>
            </a:r>
            <a:r>
              <a:rPr lang="zh-TW" altLang="en-US" sz="1800" dirty="0">
                <a:solidFill>
                  <a:srgbClr val="FF0000"/>
                </a:solidFill>
              </a:rPr>
              <a:t>被未經授權的篡改或損壞</a:t>
            </a:r>
          </a:p>
          <a:p>
            <a:pPr lvl="2"/>
            <a:endParaRPr lang="zh-TW" altLang="en-US" sz="1300" dirty="0"/>
          </a:p>
          <a:p>
            <a:pPr lvl="1"/>
            <a:r>
              <a:rPr lang="zh-TW" altLang="en-US" dirty="0"/>
              <a:t>可用性（</a:t>
            </a:r>
            <a:r>
              <a:rPr lang="en-US" altLang="zh-TW" dirty="0"/>
              <a:t>Availability</a:t>
            </a:r>
            <a:r>
              <a:rPr lang="zh-TW" altLang="en-US" dirty="0"/>
              <a:t>）：</a:t>
            </a:r>
          </a:p>
          <a:p>
            <a:pPr lvl="2"/>
            <a:r>
              <a:rPr lang="zh-TW" altLang="en-US" sz="1800" dirty="0"/>
              <a:t>確保資訊與系統能後</a:t>
            </a:r>
            <a:r>
              <a:rPr lang="zh-TW" altLang="en-US" sz="1800" dirty="0">
                <a:solidFill>
                  <a:srgbClr val="FF0000"/>
                </a:solidFill>
              </a:rPr>
              <a:t>持續營運、正常使用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lvl="2"/>
            <a:r>
              <a:rPr lang="zh-TW" altLang="en-US" sz="1800" dirty="0"/>
              <a:t>可用性確保系統和資料在合法使用者需要時可供存取，</a:t>
            </a:r>
            <a:r>
              <a:rPr lang="zh-TW" altLang="en-US" sz="1800" dirty="0">
                <a:solidFill>
                  <a:srgbClr val="FF0000"/>
                </a:solidFill>
              </a:rPr>
              <a:t>避免系統因攻擊或故障而中斷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97C68F8-EDD4-4B10-B3B2-A76BD75E6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DFEA6-1606-44CA-BC0D-F38B0CB0160F}" type="slidenum">
              <a:rPr lang="zh-TW" altLang="en-US" smtClean="0"/>
              <a:t>24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E31E094-2102-430D-32F3-CE7D186C0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144" y="1598727"/>
            <a:ext cx="4535985" cy="460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9455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754E44-0554-0457-7C93-99A24CB35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資訊安全三要素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B37F3E3-723A-FEC6-11ED-D54E24717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3"/>
            <a:ext cx="10972800" cy="4898568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sz="2400" dirty="0"/>
              <a:t>除了</a:t>
            </a:r>
            <a:r>
              <a:rPr lang="en-US" altLang="zh-TW" sz="2400" dirty="0"/>
              <a:t>CIA</a:t>
            </a:r>
            <a:r>
              <a:rPr lang="zh-TW" altLang="en-US" sz="2400" dirty="0"/>
              <a:t>三要素外，資訊安全亦包含</a:t>
            </a:r>
            <a:endParaRPr lang="en-US" altLang="zh-TW" sz="2400" dirty="0"/>
          </a:p>
          <a:p>
            <a:pPr lvl="1"/>
            <a:r>
              <a:rPr lang="zh-TW" altLang="en-US" sz="2200" dirty="0"/>
              <a:t>不可否認性 </a:t>
            </a:r>
            <a:r>
              <a:rPr lang="en-US" altLang="zh-TW" sz="2200" dirty="0"/>
              <a:t>(Non-Repudiation)</a:t>
            </a:r>
          </a:p>
          <a:p>
            <a:pPr lvl="2"/>
            <a:r>
              <a:rPr lang="zh-TW" altLang="en-US" dirty="0"/>
              <a:t>這確保行為方無法否認其執行的行為，通常應用於</a:t>
            </a:r>
            <a:r>
              <a:rPr lang="zh-TW" altLang="en-US" dirty="0">
                <a:solidFill>
                  <a:srgbClr val="FF0000"/>
                </a:solidFill>
              </a:rPr>
              <a:t>數位簽章或交易記錄</a:t>
            </a:r>
            <a:r>
              <a:rPr lang="zh-TW" altLang="en-US" dirty="0"/>
              <a:t>，以確保當事人無法否認已經進行的操作或交易</a:t>
            </a:r>
            <a:endParaRPr lang="en-US" altLang="zh-TW" dirty="0"/>
          </a:p>
          <a:p>
            <a:pPr lvl="1"/>
            <a:r>
              <a:rPr lang="zh-TW" altLang="en-US" sz="2200" dirty="0"/>
              <a:t>驗證性 </a:t>
            </a:r>
            <a:r>
              <a:rPr lang="en-US" altLang="zh-TW" sz="2200" dirty="0"/>
              <a:t>(Authenticity)</a:t>
            </a:r>
          </a:p>
          <a:p>
            <a:pPr lvl="2"/>
            <a:r>
              <a:rPr lang="zh-TW" altLang="en-US" dirty="0"/>
              <a:t>這確保系統中的資料來源和傳送方的</a:t>
            </a:r>
            <a:r>
              <a:rPr lang="zh-TW" altLang="en-US" dirty="0">
                <a:solidFill>
                  <a:srgbClr val="FF0000"/>
                </a:solidFill>
              </a:rPr>
              <a:t>身份真實可信</a:t>
            </a:r>
            <a:endParaRPr lang="en-US" altLang="zh-TW" dirty="0">
              <a:solidFill>
                <a:srgbClr val="FF0000"/>
              </a:solidFill>
            </a:endParaRPr>
          </a:p>
          <a:p>
            <a:pPr lvl="2"/>
            <a:r>
              <a:rPr lang="zh-TW" altLang="en-US" dirty="0"/>
              <a:t>透過身份驗證與數位簽章，系統可以驗證通訊方的身份，防止假冒攻擊</a:t>
            </a:r>
            <a:endParaRPr lang="en-US" altLang="zh-TW" dirty="0"/>
          </a:p>
          <a:p>
            <a:pPr lvl="1"/>
            <a:r>
              <a:rPr lang="zh-TW" altLang="en-US" sz="2200" dirty="0"/>
              <a:t>授權 </a:t>
            </a:r>
            <a:r>
              <a:rPr lang="en-US" altLang="zh-TW" sz="2200" dirty="0"/>
              <a:t>(Authority)</a:t>
            </a:r>
          </a:p>
          <a:p>
            <a:pPr lvl="2"/>
            <a:r>
              <a:rPr lang="zh-TW" altLang="en-US" dirty="0"/>
              <a:t>這指的是在系統中</a:t>
            </a:r>
            <a:r>
              <a:rPr lang="zh-TW" altLang="en-US" dirty="0">
                <a:solidFill>
                  <a:srgbClr val="FF0000"/>
                </a:solidFill>
              </a:rPr>
              <a:t>授予特定用戶存取</a:t>
            </a:r>
            <a:r>
              <a:rPr lang="zh-TW" altLang="en-US" dirty="0"/>
              <a:t>某些資源或執行特定操作的權限</a:t>
            </a:r>
            <a:endParaRPr lang="en-US" altLang="zh-TW" dirty="0"/>
          </a:p>
          <a:p>
            <a:pPr lvl="2"/>
            <a:r>
              <a:rPr lang="zh-TW" altLang="en-US" dirty="0"/>
              <a:t>僅授權的使用者能夠進行某些敏感操作，以防止未經授權的存取</a:t>
            </a:r>
            <a:endParaRPr lang="en-US" altLang="zh-TW" dirty="0"/>
          </a:p>
          <a:p>
            <a:pPr lvl="1"/>
            <a:r>
              <a:rPr lang="zh-TW" altLang="en-US" sz="2200" dirty="0"/>
              <a:t>可究責性 </a:t>
            </a:r>
            <a:r>
              <a:rPr lang="en-US" altLang="zh-TW" sz="2200" dirty="0"/>
              <a:t>(Accountability)</a:t>
            </a:r>
          </a:p>
          <a:p>
            <a:pPr lvl="2"/>
            <a:r>
              <a:rPr lang="zh-TW" altLang="en-US" dirty="0"/>
              <a:t>這確保系統中</a:t>
            </a:r>
            <a:r>
              <a:rPr lang="zh-TW" altLang="en-US" dirty="0">
                <a:solidFill>
                  <a:srgbClr val="FF0000"/>
                </a:solidFill>
              </a:rPr>
              <a:t>每個操作都可以追蹤至特定的個體或過程</a:t>
            </a:r>
            <a:r>
              <a:rPr lang="zh-TW" altLang="en-US" dirty="0"/>
              <a:t>，這有助於在安全事件發生後，能夠進行責任追溯，並且確保相關方對其行為負責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F1CF8D5-6010-0708-ADEF-4E7A8D22B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DFEA6-1606-44CA-BC0D-F38B0CB0160F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02939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1AC689-207C-487C-B777-F17A16241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81000"/>
            <a:ext cx="11126345" cy="1293028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機密性（</a:t>
            </a:r>
            <a:r>
              <a:rPr lang="en-US" altLang="zh-TW" dirty="0"/>
              <a:t>Confidentiality</a:t>
            </a:r>
            <a:r>
              <a:rPr lang="zh-TW" altLang="en-US" dirty="0"/>
              <a:t>）的深入探討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3D6C69-E75E-45AB-BD7C-B941BE903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57401"/>
            <a:ext cx="10972800" cy="4583544"/>
          </a:xfrm>
        </p:spPr>
        <p:txBody>
          <a:bodyPr>
            <a:normAutofit fontScale="32500" lnSpcReduction="20000"/>
          </a:bodyPr>
          <a:lstStyle/>
          <a:p>
            <a:pPr>
              <a:lnSpc>
                <a:spcPts val="1620"/>
              </a:lnSpc>
            </a:pPr>
            <a:r>
              <a:rPr lang="zh-TW" altLang="en-US" sz="6400" dirty="0"/>
              <a:t>機密性定義：</a:t>
            </a:r>
          </a:p>
          <a:p>
            <a:pPr lvl="1">
              <a:lnSpc>
                <a:spcPts val="1620"/>
              </a:lnSpc>
            </a:pPr>
            <a:r>
              <a:rPr lang="zh-TW" altLang="en-US" sz="5600" dirty="0"/>
              <a:t>保護敏感資料，確保只有授權人員能夠存取</a:t>
            </a:r>
            <a:endParaRPr lang="en-US" altLang="zh-TW" sz="5600" dirty="0"/>
          </a:p>
          <a:p>
            <a:pPr lvl="1">
              <a:lnSpc>
                <a:spcPts val="1620"/>
              </a:lnSpc>
            </a:pPr>
            <a:r>
              <a:rPr lang="zh-TW" altLang="en-US" sz="5600" dirty="0"/>
              <a:t>機密性涵蓋了防止洩露、竊聽以及其他非法存取的行為</a:t>
            </a:r>
            <a:endParaRPr lang="zh-TW" altLang="en-US" sz="3200" dirty="0"/>
          </a:p>
          <a:p>
            <a:pPr>
              <a:lnSpc>
                <a:spcPts val="1620"/>
              </a:lnSpc>
            </a:pPr>
            <a:r>
              <a:rPr lang="zh-TW" altLang="en-US" sz="6400" dirty="0"/>
              <a:t>常見機密性攻擊手段：</a:t>
            </a:r>
          </a:p>
          <a:p>
            <a:pPr lvl="1">
              <a:lnSpc>
                <a:spcPts val="1620"/>
              </a:lnSpc>
            </a:pPr>
            <a:r>
              <a:rPr lang="zh-TW" altLang="en-US" sz="5600" dirty="0"/>
              <a:t>未授權存取：如駭客透過破解密碼進入系統，取得敏感資料</a:t>
            </a:r>
          </a:p>
          <a:p>
            <a:pPr lvl="1">
              <a:lnSpc>
                <a:spcPts val="1620"/>
              </a:lnSpc>
            </a:pPr>
            <a:r>
              <a:rPr lang="zh-TW" altLang="en-US" sz="5600" dirty="0"/>
              <a:t>網路竊聽：在資料傳輸過程中，攻擊者透過監聽網路流量竊取資料</a:t>
            </a:r>
            <a:endParaRPr lang="zh-TW" altLang="en-US" sz="3200" dirty="0"/>
          </a:p>
          <a:p>
            <a:pPr>
              <a:lnSpc>
                <a:spcPts val="1620"/>
              </a:lnSpc>
            </a:pPr>
            <a:r>
              <a:rPr lang="zh-TW" altLang="en-US" sz="6400" dirty="0"/>
              <a:t>保護機密性的方法：</a:t>
            </a:r>
          </a:p>
          <a:p>
            <a:pPr lvl="1">
              <a:lnSpc>
                <a:spcPts val="1620"/>
              </a:lnSpc>
            </a:pPr>
            <a:r>
              <a:rPr lang="zh-TW" altLang="en-US" sz="5600" dirty="0"/>
              <a:t>加密技術：使用對稱或非對稱加密保護靜態和傳輸中的資料，常用技術包括 </a:t>
            </a:r>
            <a:r>
              <a:rPr lang="en-US" altLang="zh-TW" sz="5600" dirty="0"/>
              <a:t>AES</a:t>
            </a:r>
            <a:r>
              <a:rPr lang="zh-TW" altLang="en-US" sz="5600" dirty="0"/>
              <a:t>、</a:t>
            </a:r>
            <a:r>
              <a:rPr lang="en-US" altLang="zh-TW" sz="5600" dirty="0"/>
              <a:t>RSA </a:t>
            </a:r>
            <a:r>
              <a:rPr lang="zh-TW" altLang="en-US" sz="5600" dirty="0"/>
              <a:t>等</a:t>
            </a:r>
          </a:p>
          <a:p>
            <a:pPr lvl="1">
              <a:lnSpc>
                <a:spcPts val="1620"/>
              </a:lnSpc>
            </a:pPr>
            <a:r>
              <a:rPr lang="zh-TW" altLang="en-US" sz="5600" dirty="0"/>
              <a:t>多因子驗證（</a:t>
            </a:r>
            <a:r>
              <a:rPr lang="en-US" altLang="zh-TW" sz="5600" dirty="0"/>
              <a:t>MFA</a:t>
            </a:r>
            <a:r>
              <a:rPr lang="zh-TW" altLang="en-US" sz="5600" dirty="0"/>
              <a:t>）：除了密碼，還需其他驗證手段，如指紋或</a:t>
            </a:r>
            <a:r>
              <a:rPr lang="en-US" altLang="zh-TW" sz="5600" dirty="0"/>
              <a:t>SMS</a:t>
            </a:r>
            <a:r>
              <a:rPr lang="zh-TW" altLang="en-US" sz="5600" dirty="0"/>
              <a:t>驗證碼，來增加存取的安全性</a:t>
            </a:r>
          </a:p>
          <a:p>
            <a:pPr lvl="1">
              <a:lnSpc>
                <a:spcPts val="1620"/>
              </a:lnSpc>
            </a:pPr>
            <a:r>
              <a:rPr lang="zh-TW" altLang="en-US" sz="5600" dirty="0"/>
              <a:t>資料分類與標籤：將資料依據敏感度進行分類，並為高敏感資料設定更嚴格的存取控制</a:t>
            </a:r>
            <a:endParaRPr lang="en-US" altLang="zh-TW" sz="3200" dirty="0"/>
          </a:p>
          <a:p>
            <a:pPr>
              <a:lnSpc>
                <a:spcPts val="1620"/>
              </a:lnSpc>
            </a:pPr>
            <a:r>
              <a:rPr lang="zh-TW" altLang="en-US" sz="6400" dirty="0"/>
              <a:t>案例：</a:t>
            </a:r>
          </a:p>
          <a:p>
            <a:pPr lvl="1">
              <a:lnSpc>
                <a:spcPts val="1620"/>
              </a:lnSpc>
            </a:pPr>
            <a:r>
              <a:rPr lang="zh-TW" altLang="en-US" sz="5600" dirty="0"/>
              <a:t>銀行透過使用強密碼策略和多因子驗證來保護客戶的網上銀行帳戶，防止駭客盜取客戶資料</a:t>
            </a:r>
          </a:p>
          <a:p>
            <a:pPr>
              <a:lnSpc>
                <a:spcPct val="120000"/>
              </a:lnSpc>
            </a:pPr>
            <a:endParaRPr lang="zh-TW" altLang="en-US" sz="16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BB7D67-0CA8-45A4-BBED-E9F7F8DF8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DFEA6-1606-44CA-BC0D-F38B0CB0160F}" type="slidenum">
              <a:rPr lang="zh-TW" altLang="en-US" smtClean="0"/>
              <a:t>26</a:t>
            </a:fld>
            <a:endParaRPr lang="zh-TW" altLang="en-US" dirty="0"/>
          </a:p>
        </p:txBody>
      </p:sp>
      <p:pic>
        <p:nvPicPr>
          <p:cNvPr id="3076" name="Picture 4" descr="宏碁資訊AEB - 勒索病毒專區">
            <a:extLst>
              <a:ext uri="{FF2B5EF4-FFF2-40B4-BE49-F238E27FC236}">
                <a16:creationId xmlns:a16="http://schemas.microsoft.com/office/drawing/2014/main" id="{76D3A20E-E464-F395-AE32-7A8FE8BED1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23" b="20211"/>
          <a:stretch/>
        </p:blipFill>
        <p:spPr bwMode="auto">
          <a:xfrm>
            <a:off x="7902222" y="2057401"/>
            <a:ext cx="4011523" cy="1828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25448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B00F94-5C6B-4B65-B891-C901F47C1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完整性（</a:t>
            </a:r>
            <a:r>
              <a:rPr lang="en-US" altLang="zh-TW" dirty="0"/>
              <a:t>Integrity</a:t>
            </a:r>
            <a:r>
              <a:rPr lang="zh-TW" altLang="en-US" dirty="0"/>
              <a:t>）的深入探討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F8FB16-398E-4DE7-8AEF-1E33228DE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544900"/>
            <a:ext cx="10972800" cy="5121272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zh-TW" altLang="en-US" sz="1800" dirty="0"/>
              <a:t>完整性定義：</a:t>
            </a:r>
          </a:p>
          <a:p>
            <a:pPr lvl="1">
              <a:lnSpc>
                <a:spcPct val="120000"/>
              </a:lnSpc>
            </a:pPr>
            <a:r>
              <a:rPr lang="zh-TW" altLang="en-US" sz="1600" dirty="0"/>
              <a:t>資料的完整性指的是確保資料未被未經授權的修改或破壞</a:t>
            </a:r>
            <a:endParaRPr lang="en-US" altLang="zh-TW" sz="1600" dirty="0"/>
          </a:p>
          <a:p>
            <a:pPr lvl="1">
              <a:lnSpc>
                <a:spcPct val="120000"/>
              </a:lnSpc>
            </a:pPr>
            <a:r>
              <a:rPr lang="zh-TW" altLang="en-US" sz="1600" dirty="0"/>
              <a:t>如果資料的完整性被破壞，使用者可能會依賴錯誤的資訊進行決策</a:t>
            </a:r>
            <a:endParaRPr lang="zh-TW" altLang="en-US" sz="700" dirty="0"/>
          </a:p>
          <a:p>
            <a:pPr>
              <a:lnSpc>
                <a:spcPct val="120000"/>
              </a:lnSpc>
            </a:pPr>
            <a:r>
              <a:rPr lang="zh-TW" altLang="en-US" sz="1800" dirty="0"/>
              <a:t>完整性威脅：</a:t>
            </a:r>
          </a:p>
          <a:p>
            <a:pPr lvl="1">
              <a:lnSpc>
                <a:spcPct val="120000"/>
              </a:lnSpc>
            </a:pPr>
            <a:r>
              <a:rPr lang="zh-TW" altLang="en-US" sz="1600" dirty="0"/>
              <a:t>資料篡改：攻擊者修改傳輸中的資料，使接收者收到錯誤的資訊</a:t>
            </a:r>
          </a:p>
          <a:p>
            <a:pPr lvl="1">
              <a:lnSpc>
                <a:spcPct val="120000"/>
              </a:lnSpc>
            </a:pPr>
            <a:r>
              <a:rPr lang="zh-TW" altLang="en-US" sz="1600" dirty="0"/>
              <a:t>版本控制不當：資料的不同版本無法有效追蹤，可能導致舊版資料被錯誤使用</a:t>
            </a:r>
            <a:endParaRPr lang="en-US" altLang="zh-TW" sz="700" dirty="0"/>
          </a:p>
          <a:p>
            <a:pPr>
              <a:lnSpc>
                <a:spcPct val="120000"/>
              </a:lnSpc>
            </a:pPr>
            <a:r>
              <a:rPr lang="zh-TW" altLang="en-US" sz="1800" dirty="0"/>
              <a:t>保護完整性的方法：</a:t>
            </a:r>
          </a:p>
          <a:p>
            <a:pPr lvl="1">
              <a:lnSpc>
                <a:spcPct val="120000"/>
              </a:lnSpc>
            </a:pPr>
            <a:r>
              <a:rPr lang="zh-TW" altLang="en-US" sz="1600" dirty="0"/>
              <a:t>數位簽章：透過數位簽章來驗證資料的來源和真實性，防止資料被篡改</a:t>
            </a:r>
          </a:p>
          <a:p>
            <a:pPr lvl="1">
              <a:lnSpc>
                <a:spcPct val="120000"/>
              </a:lnSpc>
            </a:pPr>
            <a:r>
              <a:rPr lang="zh-TW" altLang="en-US" sz="1600" dirty="0"/>
              <a:t>雜湊函數：利用 </a:t>
            </a:r>
            <a:r>
              <a:rPr lang="en-US" altLang="zh-TW" sz="1600" dirty="0"/>
              <a:t>SHA-256 </a:t>
            </a:r>
            <a:r>
              <a:rPr lang="zh-TW" altLang="en-US" sz="1600" dirty="0"/>
              <a:t>等雜湊函數來生成資料的唯一識別碼，確保資料的變更能被即時發現</a:t>
            </a:r>
          </a:p>
          <a:p>
            <a:pPr lvl="1">
              <a:lnSpc>
                <a:spcPct val="120000"/>
              </a:lnSpc>
            </a:pPr>
            <a:r>
              <a:rPr lang="zh-TW" altLang="en-US" sz="1600" dirty="0"/>
              <a:t>版本控制：使用版本控制系統來追蹤資料的變更歷史，確保資料修改的透明性</a:t>
            </a:r>
            <a:endParaRPr lang="en-US" altLang="zh-TW" sz="600" dirty="0"/>
          </a:p>
          <a:p>
            <a:pPr>
              <a:lnSpc>
                <a:spcPct val="120000"/>
              </a:lnSpc>
            </a:pPr>
            <a:r>
              <a:rPr lang="zh-TW" altLang="en-US" sz="1800" dirty="0"/>
              <a:t>範例：</a:t>
            </a:r>
          </a:p>
          <a:p>
            <a:pPr lvl="1">
              <a:lnSpc>
                <a:spcPct val="120000"/>
              </a:lnSpc>
            </a:pPr>
            <a:r>
              <a:rPr lang="en-US" altLang="zh-TW" sz="1600" dirty="0"/>
              <a:t>Mozilla </a:t>
            </a:r>
            <a:r>
              <a:rPr lang="zh-TW" altLang="en-US" sz="1600" dirty="0"/>
              <a:t>使用數位簽章來保護其 </a:t>
            </a:r>
            <a:r>
              <a:rPr lang="en-US" altLang="zh-TW" sz="1600" dirty="0"/>
              <a:t>Firefox </a:t>
            </a:r>
            <a:r>
              <a:rPr lang="zh-TW" altLang="en-US" sz="1600" dirty="0"/>
              <a:t>瀏覽器的下載鏈接，防止駭客篡改下載內容，使用戶下載惡意軟體</a:t>
            </a:r>
          </a:p>
          <a:p>
            <a:pPr>
              <a:lnSpc>
                <a:spcPct val="120000"/>
              </a:lnSpc>
            </a:pPr>
            <a:endParaRPr lang="zh-TW" altLang="en-US" sz="1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0A85048-417E-44E3-B2C7-FAD87B13C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DFEA6-1606-44CA-BC0D-F38B0CB0160F}" type="slidenum">
              <a:rPr lang="zh-TW" altLang="en-US" smtClean="0"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06454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3543E3-66CD-4F7B-B0E4-076240145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可用性（</a:t>
            </a:r>
            <a:r>
              <a:rPr lang="en-US" altLang="zh-TW" dirty="0"/>
              <a:t>Availability</a:t>
            </a:r>
            <a:r>
              <a:rPr lang="zh-TW" altLang="en-US" dirty="0"/>
              <a:t>）的深入探討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FF3D35-3205-4751-B655-684FBDAEA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504074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zh-TW" altLang="en-US" sz="2000" dirty="0"/>
              <a:t>可用性定義：</a:t>
            </a:r>
          </a:p>
          <a:p>
            <a:pPr lvl="1">
              <a:lnSpc>
                <a:spcPct val="120000"/>
              </a:lnSpc>
            </a:pPr>
            <a:r>
              <a:rPr lang="zh-TW" altLang="en-US" sz="1800" dirty="0"/>
              <a:t>可用性確保系統和資料在使用者需要時可隨時存取</a:t>
            </a:r>
            <a:endParaRPr lang="en-US" altLang="zh-TW" sz="1800" dirty="0"/>
          </a:p>
          <a:p>
            <a:pPr lvl="1">
              <a:lnSpc>
                <a:spcPct val="120000"/>
              </a:lnSpc>
            </a:pPr>
            <a:r>
              <a:rPr lang="zh-TW" altLang="en-US" sz="1800" dirty="0"/>
              <a:t>系統必須能夠抵禦攻擊、保持穩定，並在出現故障時能快速恢復</a:t>
            </a:r>
            <a:endParaRPr lang="zh-TW" altLang="en-US" sz="400" dirty="0"/>
          </a:p>
          <a:p>
            <a:pPr>
              <a:lnSpc>
                <a:spcPct val="120000"/>
              </a:lnSpc>
            </a:pPr>
            <a:r>
              <a:rPr lang="zh-TW" altLang="en-US" sz="2000" dirty="0"/>
              <a:t>常見的可用性威脅：</a:t>
            </a:r>
          </a:p>
          <a:p>
            <a:pPr lvl="1">
              <a:lnSpc>
                <a:spcPct val="120000"/>
              </a:lnSpc>
            </a:pPr>
            <a:r>
              <a:rPr lang="en-US" altLang="zh-TW" sz="1800" dirty="0"/>
              <a:t>DDoS </a:t>
            </a:r>
            <a:r>
              <a:rPr lang="zh-TW" altLang="en-US" sz="1800" dirty="0"/>
              <a:t>攻擊：大量的伺服器請求導致系統過載，無法對合法請求做出回應</a:t>
            </a:r>
          </a:p>
          <a:p>
            <a:pPr lvl="1">
              <a:lnSpc>
                <a:spcPct val="120000"/>
              </a:lnSpc>
            </a:pPr>
            <a:r>
              <a:rPr lang="zh-TW" altLang="en-US" sz="1800" dirty="0"/>
              <a:t>硬體故障：硬體設備如伺服器故障可能導致系統無法運行</a:t>
            </a:r>
          </a:p>
          <a:p>
            <a:pPr lvl="1">
              <a:lnSpc>
                <a:spcPct val="120000"/>
              </a:lnSpc>
            </a:pPr>
            <a:r>
              <a:rPr lang="zh-TW" altLang="en-US" sz="1800" dirty="0"/>
              <a:t>災害事件：自然災害（如地震、火災）可能毀壞伺服器，導致業務中斷</a:t>
            </a:r>
            <a:endParaRPr lang="zh-TW" altLang="en-US" sz="400" dirty="0"/>
          </a:p>
          <a:p>
            <a:pPr>
              <a:lnSpc>
                <a:spcPct val="120000"/>
              </a:lnSpc>
            </a:pPr>
            <a:r>
              <a:rPr lang="zh-TW" altLang="en-US" sz="2000" dirty="0"/>
              <a:t>保護可用性的技術：</a:t>
            </a:r>
          </a:p>
          <a:p>
            <a:pPr lvl="1">
              <a:lnSpc>
                <a:spcPct val="120000"/>
              </a:lnSpc>
            </a:pPr>
            <a:r>
              <a:rPr lang="zh-TW" altLang="en-US" sz="1800" dirty="0"/>
              <a:t>負載均衡：將流量分散至多台伺服器，避免單一伺服器負荷過重而崩潰</a:t>
            </a:r>
          </a:p>
          <a:p>
            <a:pPr lvl="1">
              <a:lnSpc>
                <a:spcPct val="120000"/>
              </a:lnSpc>
            </a:pPr>
            <a:r>
              <a:rPr lang="zh-TW" altLang="en-US" sz="1800" dirty="0"/>
              <a:t>備援系統：實施備援計畫，確保系統在發生災害時能夠切換到備援系統繼續運行</a:t>
            </a:r>
          </a:p>
          <a:p>
            <a:pPr lvl="1">
              <a:lnSpc>
                <a:spcPct val="120000"/>
              </a:lnSpc>
            </a:pPr>
            <a:r>
              <a:rPr lang="en-US" altLang="zh-TW" sz="1800" dirty="0"/>
              <a:t>DDoS </a:t>
            </a:r>
            <a:r>
              <a:rPr lang="zh-TW" altLang="en-US" sz="1800" dirty="0"/>
              <a:t>防禦：使用雲端服務提供商或專門的防禦技術來應對 </a:t>
            </a:r>
            <a:r>
              <a:rPr lang="en-US" altLang="zh-TW" sz="1800" dirty="0"/>
              <a:t>DDoS </a:t>
            </a:r>
            <a:r>
              <a:rPr lang="zh-TW" altLang="en-US" sz="1800" dirty="0"/>
              <a:t>攻擊，保護系統的可用性</a:t>
            </a:r>
            <a:endParaRPr lang="zh-TW" altLang="en-US" sz="300" dirty="0"/>
          </a:p>
          <a:p>
            <a:pPr>
              <a:lnSpc>
                <a:spcPct val="120000"/>
              </a:lnSpc>
            </a:pPr>
            <a:r>
              <a:rPr lang="zh-TW" altLang="en-US" sz="2000" dirty="0"/>
              <a:t>範例：</a:t>
            </a:r>
          </a:p>
          <a:p>
            <a:pPr lvl="1">
              <a:lnSpc>
                <a:spcPct val="120000"/>
              </a:lnSpc>
            </a:pPr>
            <a:r>
              <a:rPr lang="zh-TW" altLang="en-US" sz="1800" dirty="0"/>
              <a:t>購票平台在演唱會期間使用了負載均衡技術，避免因大量流量而導致網站崩潰</a:t>
            </a:r>
            <a:endParaRPr lang="zh-TW" altLang="en-US" sz="20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BAC16F0-F815-4210-99FD-FE0B1089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DFEA6-1606-44CA-BC0D-F38B0CB0160F}" type="slidenum">
              <a:rPr lang="zh-TW" altLang="en-US" smtClean="0"/>
              <a:t>28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319757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989D44-4CB0-24A8-D99A-391E0FD52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490330"/>
            <a:ext cx="10820400" cy="5728355"/>
          </a:xfrm>
        </p:spPr>
        <p:txBody>
          <a:bodyPr>
            <a:normAutofit/>
          </a:bodyPr>
          <a:lstStyle/>
          <a:p>
            <a:r>
              <a:rPr lang="zh-TW" altLang="zh-TW" sz="2800" dirty="0"/>
              <a:t>不</a:t>
            </a:r>
            <a:r>
              <a:rPr lang="zh-TW" altLang="zh-TW" sz="3200" dirty="0"/>
              <a:t>盲信</a:t>
            </a:r>
            <a:r>
              <a:rPr lang="en-US" altLang="zh-TW" sz="3200" dirty="0"/>
              <a:t>AI</a:t>
            </a:r>
            <a:r>
              <a:rPr lang="zh-TW" altLang="zh-TW" sz="3200" dirty="0"/>
              <a:t>黑盒</a:t>
            </a:r>
            <a:r>
              <a:rPr lang="zh-TW" altLang="en-US" sz="3200" dirty="0"/>
              <a:t> </a:t>
            </a:r>
            <a:r>
              <a:rPr lang="zh-TW" altLang="zh-TW" sz="3200" dirty="0"/>
              <a:t>—</a:t>
            </a:r>
            <a:r>
              <a:rPr lang="zh-TW" altLang="en-US" sz="3200" dirty="0"/>
              <a:t> </a:t>
            </a:r>
            <a:r>
              <a:rPr lang="zh-TW" altLang="zh-TW" sz="3200" dirty="0"/>
              <a:t>保持工程師的批判性思維與</a:t>
            </a:r>
            <a:r>
              <a:rPr lang="zh-TW" altLang="en-US" sz="3200" dirty="0"/>
              <a:t>事實查</a:t>
            </a:r>
            <a:r>
              <a:rPr lang="zh-TW" altLang="zh-TW" sz="3200" dirty="0"/>
              <a:t>核</a:t>
            </a:r>
            <a:endParaRPr lang="en-US" altLang="zh-TW" sz="3200" dirty="0"/>
          </a:p>
          <a:p>
            <a:r>
              <a:rPr lang="zh-TW" altLang="zh-TW" sz="2400" dirty="0"/>
              <a:t>AI 會犯錯，</a:t>
            </a:r>
            <a:r>
              <a:rPr lang="zh-TW" altLang="en-US" sz="2400" dirty="0"/>
              <a:t>你</a:t>
            </a:r>
            <a:r>
              <a:rPr lang="zh-TW" altLang="zh-TW" sz="2400" dirty="0"/>
              <a:t>才是最終的安全閥</a:t>
            </a:r>
          </a:p>
          <a:p>
            <a:pPr>
              <a:lnSpc>
                <a:spcPct val="150000"/>
              </a:lnSpc>
            </a:pPr>
            <a:r>
              <a:rPr lang="zh-TW" altLang="zh-TW" sz="2400" b="1" dirty="0"/>
              <a:t>警惕「AI 幻覺與誤報」</a:t>
            </a:r>
            <a:endParaRPr lang="zh-TW" altLang="zh-TW" sz="2400" dirty="0"/>
          </a:p>
          <a:p>
            <a:pPr lvl="1">
              <a:lnSpc>
                <a:spcPct val="150000"/>
              </a:lnSpc>
            </a:pPr>
            <a:r>
              <a:rPr lang="zh-TW" altLang="zh-TW" sz="2400" dirty="0"/>
              <a:t>AI 給出的預測或報告可能看似專業，實則可能存在邏輯漏洞。在化工廠中，一個錯誤的預測可能導致數百萬的非預期停機或工安意外。</a:t>
            </a:r>
          </a:p>
          <a:p>
            <a:pPr>
              <a:lnSpc>
                <a:spcPct val="150000"/>
              </a:lnSpc>
            </a:pPr>
            <a:r>
              <a:rPr lang="zh-TW" altLang="zh-TW" sz="2400" b="1" dirty="0"/>
              <a:t>⚖️ </a:t>
            </a:r>
            <a:r>
              <a:rPr lang="zh-TW" altLang="en-US" sz="2400" b="1" dirty="0"/>
              <a:t>必須要有</a:t>
            </a:r>
            <a:r>
              <a:rPr lang="zh-TW" altLang="zh-TW" sz="2400" b="1" dirty="0"/>
              <a:t>人類的複核機制</a:t>
            </a:r>
            <a:endParaRPr lang="zh-TW" altLang="zh-TW" sz="2400" dirty="0"/>
          </a:p>
          <a:p>
            <a:pPr lvl="1">
              <a:lnSpc>
                <a:spcPct val="150000"/>
              </a:lnSpc>
            </a:pPr>
            <a:r>
              <a:rPr lang="zh-TW" altLang="zh-TW" sz="2400" dirty="0"/>
              <a:t>當 AI 預測性維護系統發出「某高壓閥門將於三天內損壞」的警報時，必須結合現場維護人員（ME/EE）的儀器量測進行二次確認。</a:t>
            </a:r>
          </a:p>
          <a:p>
            <a:pPr lvl="1">
              <a:lnSpc>
                <a:spcPct val="150000"/>
              </a:lnSpc>
            </a:pPr>
            <a:r>
              <a:rPr lang="zh-TW" altLang="zh-TW" sz="2400" b="1" dirty="0"/>
              <a:t>讓 AI 做初步篩選，讓現場專家做最終決策。</a:t>
            </a:r>
            <a:endParaRPr lang="zh-TW" altLang="zh-TW" sz="2400" dirty="0"/>
          </a:p>
          <a:p>
            <a:endParaRPr kumimoji="1"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DBEF01-3B42-A4DC-F694-E9E5080D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pPr/>
              <a:t>29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460683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374D33-5BAC-3345-1401-1256D58A1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051" y="764373"/>
            <a:ext cx="11489635" cy="1293028"/>
          </a:xfrm>
        </p:spPr>
        <p:txBody>
          <a:bodyPr>
            <a:normAutofit fontScale="90000"/>
          </a:bodyPr>
          <a:lstStyle/>
          <a:p>
            <a:r>
              <a:rPr lang="zh-TW" altLang="zh-TW" b="1" dirty="0"/>
              <a:t>法律、倫理與權責劃分</a:t>
            </a:r>
            <a:r>
              <a:rPr lang="zh-TW" altLang="en-US" b="1" dirty="0"/>
              <a:t> </a:t>
            </a:r>
            <a:r>
              <a:rPr lang="en-US" altLang="zh-TW" b="1" dirty="0"/>
              <a:t>-</a:t>
            </a:r>
            <a:r>
              <a:rPr lang="zh-TW" altLang="zh-TW" b="1" dirty="0"/>
              <a:t>當 AI 誤判時</a:t>
            </a:r>
            <a:br>
              <a:rPr lang="en-US" altLang="zh-TW" b="1" dirty="0"/>
            </a:br>
            <a:r>
              <a:rPr lang="zh-TW" altLang="zh-TW" b="1" dirty="0"/>
              <a:t>責任在誰</a:t>
            </a:r>
            <a:r>
              <a:rPr lang="en-US" altLang="zh-TW" b="1" dirty="0"/>
              <a:t>?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FB816D-1BB0-1C57-901D-F4D5DC3EF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4663440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50000"/>
              </a:lnSpc>
            </a:pPr>
            <a:r>
              <a:rPr lang="zh-TW" altLang="zh-TW" sz="3200" dirty="0"/>
              <a:t>釐清合約架構，落實合規管理</a:t>
            </a:r>
          </a:p>
          <a:p>
            <a:pPr>
              <a:lnSpc>
                <a:spcPct val="150000"/>
              </a:lnSpc>
            </a:pPr>
            <a:r>
              <a:rPr lang="zh-TW" altLang="zh-TW" sz="3200" b="1" dirty="0"/>
              <a:t>投影片核心內容</a:t>
            </a:r>
            <a:r>
              <a:rPr lang="zh-TW" altLang="zh-TW" sz="3200" dirty="0"/>
              <a:t>：</a:t>
            </a:r>
          </a:p>
          <a:p>
            <a:pPr lvl="1">
              <a:lnSpc>
                <a:spcPct val="150000"/>
              </a:lnSpc>
            </a:pPr>
            <a:r>
              <a:rPr lang="zh-TW" altLang="zh-TW" sz="3200" b="1" dirty="0"/>
              <a:t>工安事故與維護失誤的權責歸屬</a:t>
            </a:r>
            <a:endParaRPr lang="zh-TW" altLang="zh-TW" sz="3200" dirty="0"/>
          </a:p>
          <a:p>
            <a:pPr lvl="2">
              <a:lnSpc>
                <a:spcPct val="150000"/>
              </a:lnSpc>
            </a:pPr>
            <a:r>
              <a:rPr lang="zh-TW" altLang="zh-TW" sz="2900" dirty="0"/>
              <a:t>明確法律認知：AI 工具本身不是法人，無法承擔法律責任。若 AI 漏報某次工安違規導致事故，責任仍在現場管理主管與企業主。</a:t>
            </a:r>
          </a:p>
          <a:p>
            <a:pPr lvl="1">
              <a:lnSpc>
                <a:spcPct val="150000"/>
              </a:lnSpc>
            </a:pPr>
            <a:r>
              <a:rPr lang="zh-TW" altLang="zh-TW" sz="3200" b="1" dirty="0"/>
              <a:t>檢視軟體服務合約 (SLA)</a:t>
            </a:r>
            <a:endParaRPr lang="zh-TW" altLang="zh-TW" sz="3200" dirty="0"/>
          </a:p>
          <a:p>
            <a:pPr lvl="2">
              <a:lnSpc>
                <a:spcPct val="150000"/>
              </a:lnSpc>
            </a:pPr>
            <a:r>
              <a:rPr lang="zh-TW" altLang="zh-TW" sz="2900" dirty="0"/>
              <a:t>引進外部 AI 服務工具時，需仔細審閱廠商的免責條款。</a:t>
            </a:r>
          </a:p>
          <a:p>
            <a:pPr lvl="1">
              <a:lnSpc>
                <a:spcPct val="150000"/>
              </a:lnSpc>
            </a:pPr>
            <a:r>
              <a:rPr lang="zh-TW" altLang="zh-TW" sz="3200" b="1" dirty="0"/>
              <a:t> 建立友善的人機協作文化</a:t>
            </a:r>
            <a:endParaRPr lang="zh-TW" altLang="zh-TW" sz="3200" dirty="0"/>
          </a:p>
          <a:p>
            <a:pPr lvl="2">
              <a:lnSpc>
                <a:spcPct val="150000"/>
              </a:lnSpc>
            </a:pPr>
            <a:r>
              <a:rPr lang="zh-TW" altLang="zh-TW" sz="2900" dirty="0"/>
              <a:t>對內向員工宣導：AI 是用來減輕巡檢與維護負擔的</a:t>
            </a:r>
            <a:r>
              <a:rPr lang="zh-TW" altLang="zh-TW" sz="2900" dirty="0">
                <a:highlight>
                  <a:srgbClr val="FF00FF"/>
                </a:highlight>
              </a:rPr>
              <a:t>助手</a:t>
            </a:r>
            <a:r>
              <a:rPr lang="zh-TW" altLang="zh-TW" sz="2900" dirty="0"/>
              <a:t>，而非監視、懲罰員工的工具</a:t>
            </a:r>
            <a:r>
              <a:rPr lang="zh-TW" altLang="en-US" sz="2900" dirty="0"/>
              <a:t>，來促進</a:t>
            </a:r>
            <a:r>
              <a:rPr lang="zh-TW" altLang="zh-TW" sz="2900" dirty="0"/>
              <a:t>人</a:t>
            </a:r>
            <a:r>
              <a:rPr lang="zh-TW" altLang="en-US" sz="2900" dirty="0"/>
              <a:t>與</a:t>
            </a:r>
            <a:r>
              <a:rPr lang="en-US" altLang="zh-TW" sz="2900" dirty="0"/>
              <a:t>AI</a:t>
            </a:r>
            <a:r>
              <a:rPr lang="zh-TW" altLang="en-US" sz="2900"/>
              <a:t>的協作</a:t>
            </a:r>
            <a:r>
              <a:rPr lang="zh-TW" altLang="zh-TW" sz="2900"/>
              <a:t>心理</a:t>
            </a:r>
            <a:r>
              <a:rPr lang="zh-TW" altLang="zh-TW" sz="2900" dirty="0"/>
              <a:t>。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7FF139-1487-C359-125B-507DFCFA1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pPr/>
              <a:t>30</a:t>
            </a:fld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4429362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C14EFA-D5B4-C560-7351-916B2A4CC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實作時間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D84F81-DBE5-5B96-228A-18BA12B2D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zh-TW" altLang="en-US" sz="3600" dirty="0">
                <a:latin typeface="KaiTi" panose="02010609060101010101" pitchFamily="49" charset="-122"/>
                <a:ea typeface="KaiTi" panose="02010609060101010101" pitchFamily="49" charset="-122"/>
              </a:rPr>
              <a:t>習題</a:t>
            </a:r>
            <a:r>
              <a:rPr lang="zh-TW" altLang="en-US" sz="36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一：請假代理人 </a:t>
            </a:r>
            <a:r>
              <a:rPr lang="en-US" altLang="zh-TW" sz="3600" b="0" i="0" u="none" strike="noStrike" baseline="0" dirty="0">
                <a:latin typeface="TimesNewRomanPSMT"/>
                <a:ea typeface="KaiTi" panose="02010609060101010101" pitchFamily="49" charset="-122"/>
              </a:rPr>
              <a:t>— PDF</a:t>
            </a:r>
            <a:r>
              <a:rPr lang="zh-TW" altLang="en-US" sz="36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／</a:t>
            </a:r>
            <a:r>
              <a:rPr lang="en-US" altLang="zh-TW" sz="3600" b="0" i="0" u="none" strike="noStrike" baseline="0" dirty="0">
                <a:latin typeface="TimesNewRomanPSMT"/>
                <a:ea typeface="KaiTi" panose="02010609060101010101" pitchFamily="49" charset="-122"/>
              </a:rPr>
              <a:t>PNG</a:t>
            </a:r>
            <a:r>
              <a:rPr lang="zh-TW" altLang="en-US" sz="36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（</a:t>
            </a:r>
            <a:r>
              <a:rPr lang="en-US" altLang="zh-TW" sz="3600" b="0" i="0" u="none" strike="noStrike" baseline="0" dirty="0">
                <a:latin typeface="TimesNewRomanPSMT"/>
                <a:ea typeface="KaiTi" panose="02010609060101010101" pitchFamily="49" charset="-122"/>
              </a:rPr>
              <a:t>OCR</a:t>
            </a:r>
            <a:r>
              <a:rPr lang="zh-TW" altLang="en-US" sz="36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）／</a:t>
            </a:r>
            <a:r>
              <a:rPr lang="en-US" altLang="zh-TW" sz="3600" b="0" i="0" u="none" strike="noStrike" baseline="0" dirty="0">
                <a:latin typeface="TimesNewRomanPSMT"/>
                <a:ea typeface="KaiTi" panose="02010609060101010101" pitchFamily="49" charset="-122"/>
              </a:rPr>
              <a:t>DOCX → </a:t>
            </a:r>
            <a:r>
              <a:rPr lang="zh-TW" altLang="en-US" sz="36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抓取人事時地物（簡單流程）</a:t>
            </a:r>
            <a:endParaRPr lang="en-US" altLang="zh-TW" sz="3600" b="0" i="0" u="none" strike="noStrike" baseline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l"/>
            <a:endParaRPr lang="zh-TW" altLang="en-US" sz="3600" b="0" i="0" u="none" strike="noStrike" baseline="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l"/>
            <a:r>
              <a:rPr lang="zh-TW" altLang="en-US" sz="3600" dirty="0">
                <a:latin typeface="KaiTi" panose="02010609060101010101" pitchFamily="49" charset="-122"/>
                <a:ea typeface="KaiTi" panose="02010609060101010101" pitchFamily="49" charset="-122"/>
              </a:rPr>
              <a:t>習題二</a:t>
            </a:r>
            <a:r>
              <a:rPr lang="zh-TW" altLang="en-US" sz="36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：會議秘書 </a:t>
            </a:r>
            <a:r>
              <a:rPr lang="en-US" altLang="zh-TW" sz="3600" b="0" i="0" u="none" strike="noStrike" baseline="0" dirty="0">
                <a:latin typeface="TimesNewRomanPSMT"/>
                <a:ea typeface="KaiTi" panose="02010609060101010101" pitchFamily="49" charset="-122"/>
              </a:rPr>
              <a:t>— </a:t>
            </a:r>
            <a:r>
              <a:rPr lang="zh-TW" altLang="en-US" sz="36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開會 </a:t>
            </a:r>
            <a:r>
              <a:rPr lang="zh-TW" altLang="en-US" sz="3600" b="0" i="0" u="none" strike="noStrike" baseline="0" dirty="0">
                <a:latin typeface="TimesNewRomanPSMT"/>
                <a:ea typeface="KaiTi" panose="02010609060101010101" pitchFamily="49" charset="-122"/>
              </a:rPr>
              <a:t>→ </a:t>
            </a:r>
            <a:r>
              <a:rPr lang="zh-TW" altLang="en-US" sz="3600" b="0" i="0" u="none" strike="noStrike" baseline="0" dirty="0">
                <a:latin typeface="KaiTi" panose="02010609060101010101" pitchFamily="49" charset="-122"/>
                <a:ea typeface="KaiTi" panose="02010609060101010101" pitchFamily="49" charset="-122"/>
              </a:rPr>
              <a:t>使用者設定人事時地物，生成會議通知</a:t>
            </a:r>
            <a:endParaRPr lang="zh-TW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045552420"/>
      </p:ext>
    </p:extLst>
  </p:cSld>
  <p:clrMapOvr>
    <a:masterClrMapping/>
  </p:clrMapOvr>
</p:sld>
</file>

<file path=ppt/theme/theme1.xml><?xml version="1.0" encoding="utf-8"?>
<a:theme xmlns:a="http://schemas.openxmlformats.org/drawingml/2006/main" name="包裹">
  <a:themeElements>
    <a:clrScheme name="包裹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包裹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包裹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588</TotalTime>
  <Words>2770</Words>
  <Application>Microsoft Office PowerPoint</Application>
  <PresentationFormat>寬螢幕</PresentationFormat>
  <Paragraphs>180</Paragraphs>
  <Slides>31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31</vt:i4>
      </vt:variant>
    </vt:vector>
  </HeadingPairs>
  <TitlesOfParts>
    <vt:vector size="32" baseType="lpstr">
      <vt:lpstr>包裹</vt:lpstr>
      <vt:lpstr>生成式AI實作</vt:lpstr>
      <vt:lpstr>報告大綱</vt:lpstr>
      <vt:lpstr>什麼是人工智慧與生成式人工智慧  (Artificial Intelligence and Generative AI) ？</vt:lpstr>
      <vt:lpstr>生成式ａｉ</vt:lpstr>
      <vt:lpstr>CPU / GPU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Prompt types 提示類型</vt:lpstr>
      <vt:lpstr>Prompts提示</vt:lpstr>
      <vt:lpstr>PowerPoint 簡報</vt:lpstr>
      <vt:lpstr>SKILL</vt:lpstr>
      <vt:lpstr>PowerPoint 簡報</vt:lpstr>
      <vt:lpstr>什麼是自主代理人工智慧 (Agentic Ai)</vt:lpstr>
      <vt:lpstr>自主代理 AI 的效益</vt:lpstr>
      <vt:lpstr>Agentic AI 運作架構與優勢</vt:lpstr>
      <vt:lpstr>AI 代理運作方式</vt:lpstr>
      <vt:lpstr>使用人工智慧工具時的注意事項</vt:lpstr>
      <vt:lpstr>什麼是資訊安全？</vt:lpstr>
      <vt:lpstr>資訊安全三要素</vt:lpstr>
      <vt:lpstr>資訊安全三要素</vt:lpstr>
      <vt:lpstr>機密性（Confidentiality）的深入探討</vt:lpstr>
      <vt:lpstr>完整性（Integrity）的深入探討</vt:lpstr>
      <vt:lpstr>可用性（Availability）的深入探討</vt:lpstr>
      <vt:lpstr>PowerPoint 簡報</vt:lpstr>
      <vt:lpstr>法律、倫理與權責劃分 -當 AI 誤判時 責任在誰?</vt:lpstr>
      <vt:lpstr>實作時間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生成式AI實作</dc:title>
  <dc:creator>電子系[建工]-洪盟峯</dc:creator>
  <cp:lastModifiedBy>電子系[建工]-洪盟峯</cp:lastModifiedBy>
  <cp:revision>9</cp:revision>
  <dcterms:created xsi:type="dcterms:W3CDTF">2026-07-26T08:20:52Z</dcterms:created>
  <dcterms:modified xsi:type="dcterms:W3CDTF">2026-08-25T08:41:47Z</dcterms:modified>
</cp:coreProperties>
</file>